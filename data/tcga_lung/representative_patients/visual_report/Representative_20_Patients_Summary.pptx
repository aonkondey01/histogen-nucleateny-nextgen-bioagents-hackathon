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LUAD</c:v>
                </c:pt>
                <c:pt idx="1">
                  <c:v>LUSC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10.0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Smoker</c:v>
                </c:pt>
                <c:pt idx="1">
                  <c:v>Non-smoker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10.0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33-39</c:v>
                </c:pt>
                <c:pt idx="1">
                  <c:v>39-45</c:v>
                </c:pt>
                <c:pt idx="2">
                  <c:v>45-51</c:v>
                </c:pt>
                <c:pt idx="3">
                  <c:v>51-58</c:v>
                </c:pt>
                <c:pt idx="4">
                  <c:v>58-64</c:v>
                </c:pt>
                <c:pt idx="5">
                  <c:v>64-70</c:v>
                </c:pt>
                <c:pt idx="6">
                  <c:v>70-76</c:v>
                </c:pt>
                <c:pt idx="7">
                  <c:v>76-82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1.0</c:v>
                </c:pt>
                <c:pt idx="1">
                  <c:v>1.0</c:v>
                </c:pt>
                <c:pt idx="2">
                  <c:v>4.0</c:v>
                </c:pt>
                <c:pt idx="3">
                  <c:v>0.0</c:v>
                </c:pt>
                <c:pt idx="4">
                  <c:v>3.0</c:v>
                </c:pt>
                <c:pt idx="5">
                  <c:v>4.0</c:v>
                </c:pt>
                <c:pt idx="6">
                  <c:v>3.0</c:v>
                </c:pt>
                <c:pt idx="7">
                  <c:v>4.0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Alive</c:v>
                </c:pt>
                <c:pt idx="1">
                  <c:v>Dead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8.0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5.0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Stage IB</c:v>
                </c:pt>
                <c:pt idx="1">
                  <c:v>Stage IA</c:v>
                </c:pt>
                <c:pt idx="2">
                  <c:v>Stage IIB</c:v>
                </c:pt>
                <c:pt idx="3">
                  <c:v>Stage IIA</c:v>
                </c:pt>
                <c:pt idx="4">
                  <c:v>Stage IIIA</c:v>
                </c:pt>
                <c:pt idx="5">
                  <c:v>Stage IV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</c:v>
                </c:pt>
                <c:pt idx="1">
                  <c:v>5.0</c:v>
                </c:pt>
                <c:pt idx="2">
                  <c:v>4.0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RPPA protein</c:v>
                </c:pt>
                <c:pt idx="1">
                  <c:v>miRNA</c:v>
                </c:pt>
                <c:pt idx="2">
                  <c:v>Methylation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</c:v>
                </c:pt>
                <c:pt idx="1">
                  <c:v>17.0</c:v>
                </c:pt>
                <c:pt idx="2">
                  <c:v>20.0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Mutated patients (%)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TP53</c:v>
                </c:pt>
                <c:pt idx="1">
                  <c:v>KRAS</c:v>
                </c:pt>
                <c:pt idx="2">
                  <c:v>KEAP1</c:v>
                </c:pt>
                <c:pt idx="3">
                  <c:v>STK11</c:v>
                </c:pt>
                <c:pt idx="4">
                  <c:v>EGFR</c:v>
                </c:pt>
                <c:pt idx="5">
                  <c:v>NFE2L2</c:v>
                </c:pt>
                <c:pt idx="6">
                  <c:v>PIK3CA</c:v>
                </c:pt>
                <c:pt idx="7">
                  <c:v>CDKN2A</c:v>
                </c:pt>
                <c:pt idx="8">
                  <c:v>FAT1</c:v>
                </c:pt>
                <c:pt idx="9">
                  <c:v>KMT2D</c:v>
                </c:pt>
                <c:pt idx="10">
                  <c:v>KMT2C</c:v>
                </c:pt>
                <c:pt idx="11">
                  <c:v>NF1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80.0</c:v>
                </c:pt>
                <c:pt idx="1">
                  <c:v>15.0</c:v>
                </c:pt>
                <c:pt idx="2">
                  <c:v>25.0</c:v>
                </c:pt>
                <c:pt idx="3">
                  <c:v>10.0</c:v>
                </c:pt>
                <c:pt idx="4">
                  <c:v>20.0</c:v>
                </c:pt>
                <c:pt idx="5">
                  <c:v>5.0</c:v>
                </c:pt>
                <c:pt idx="6">
                  <c:v>20.0</c:v>
                </c:pt>
                <c:pt idx="7">
                  <c:v>35.0</c:v>
                </c:pt>
                <c:pt idx="8">
                  <c:v>20.0</c:v>
                </c:pt>
                <c:pt idx="9">
                  <c:v>25.0</c:v>
                </c:pt>
                <c:pt idx="10">
                  <c:v>35.0</c:v>
                </c:pt>
                <c:pt idx="11">
                  <c:v>25.0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LUAD (%)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TP53</c:v>
                </c:pt>
                <c:pt idx="1">
                  <c:v>KRAS</c:v>
                </c:pt>
                <c:pt idx="2">
                  <c:v>KEAP1</c:v>
                </c:pt>
                <c:pt idx="3">
                  <c:v>STK11</c:v>
                </c:pt>
                <c:pt idx="4">
                  <c:v>EGFR</c:v>
                </c:pt>
                <c:pt idx="5">
                  <c:v>NFE2L2</c:v>
                </c:pt>
                <c:pt idx="6">
                  <c:v>PIK3CA</c:v>
                </c:pt>
                <c:pt idx="7">
                  <c:v>CDKN2A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80.0</c:v>
                </c:pt>
                <c:pt idx="1">
                  <c:v>30.0</c:v>
                </c:pt>
                <c:pt idx="2">
                  <c:v>30.0</c:v>
                </c:pt>
                <c:pt idx="3">
                  <c:v>20.0</c:v>
                </c:pt>
                <c:pt idx="4">
                  <c:v>20.0</c:v>
                </c:pt>
                <c:pt idx="5">
                  <c:v>0.0</c:v>
                </c:pt>
                <c:pt idx="6">
                  <c:v>10.0</c:v>
                </c:pt>
                <c:pt idx="7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LUSC (%)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TP53</c:v>
                </c:pt>
                <c:pt idx="1">
                  <c:v>KRAS</c:v>
                </c:pt>
                <c:pt idx="2">
                  <c:v>KEAP1</c:v>
                </c:pt>
                <c:pt idx="3">
                  <c:v>STK11</c:v>
                </c:pt>
                <c:pt idx="4">
                  <c:v>EGFR</c:v>
                </c:pt>
                <c:pt idx="5">
                  <c:v>NFE2L2</c:v>
                </c:pt>
                <c:pt idx="6">
                  <c:v>PIK3CA</c:v>
                </c:pt>
                <c:pt idx="7">
                  <c:v>CDKN2A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80.0</c:v>
                </c:pt>
                <c:pt idx="1">
                  <c:v>0.0</c:v>
                </c:pt>
                <c:pt idx="2">
                  <c:v>20.0</c:v>
                </c:pt>
                <c:pt idx="3">
                  <c:v>0.0</c:v>
                </c:pt>
                <c:pt idx="4">
                  <c:v>20.0</c:v>
                </c:pt>
                <c:pt idx="5">
                  <c:v>10.0</c:v>
                </c:pt>
                <c:pt idx="6">
                  <c:v>30.0</c:v>
                </c:pt>
                <c:pt idx="7">
                  <c:v>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MAF rows</c:v>
                </c:pt>
              </c:strCache>
            </c:strRef>
          </c:tx>
          <c:cat>
            <c:strRef>
              <c:f>Sheet1!$A$2:$A$21</c:f>
              <c:strCache>
                <c:ptCount val="20"/>
                <c:pt idx="0">
                  <c:v>18-3409</c:v>
                </c:pt>
                <c:pt idx="1">
                  <c:v>60-2698</c:v>
                </c:pt>
                <c:pt idx="2">
                  <c:v>55-7907</c:v>
                </c:pt>
                <c:pt idx="3">
                  <c:v>56-A5DR</c:v>
                </c:pt>
                <c:pt idx="4">
                  <c:v>05-4410</c:v>
                </c:pt>
                <c:pt idx="5">
                  <c:v>73-A9RS</c:v>
                </c:pt>
                <c:pt idx="6">
                  <c:v>22-4613</c:v>
                </c:pt>
                <c:pt idx="7">
                  <c:v>86-8279</c:v>
                </c:pt>
                <c:pt idx="8">
                  <c:v>44-3917</c:v>
                </c:pt>
                <c:pt idx="9">
                  <c:v>L3-A524</c:v>
                </c:pt>
                <c:pt idx="10">
                  <c:v>86-8672</c:v>
                </c:pt>
                <c:pt idx="11">
                  <c:v>70-6722</c:v>
                </c:pt>
                <c:pt idx="12">
                  <c:v>37-3789</c:v>
                </c:pt>
                <c:pt idx="13">
                  <c:v>18-5595</c:v>
                </c:pt>
                <c:pt idx="14">
                  <c:v>85-8277</c:v>
                </c:pt>
                <c:pt idx="15">
                  <c:v>86-7954</c:v>
                </c:pt>
                <c:pt idx="16">
                  <c:v>86-7701</c:v>
                </c:pt>
                <c:pt idx="17">
                  <c:v>56-5898</c:v>
                </c:pt>
                <c:pt idx="18">
                  <c:v>55-7815</c:v>
                </c:pt>
                <c:pt idx="19">
                  <c:v>44-2661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3650.0</c:v>
                </c:pt>
                <c:pt idx="1">
                  <c:v>2198.0</c:v>
                </c:pt>
                <c:pt idx="2">
                  <c:v>1263.0</c:v>
                </c:pt>
                <c:pt idx="3">
                  <c:v>1194.0</c:v>
                </c:pt>
                <c:pt idx="4">
                  <c:v>1156.0</c:v>
                </c:pt>
                <c:pt idx="5">
                  <c:v>1048.0</c:v>
                </c:pt>
                <c:pt idx="6">
                  <c:v>689.0</c:v>
                </c:pt>
                <c:pt idx="7">
                  <c:v>559.0</c:v>
                </c:pt>
                <c:pt idx="8">
                  <c:v>480.0</c:v>
                </c:pt>
                <c:pt idx="9">
                  <c:v>369.0</c:v>
                </c:pt>
                <c:pt idx="10">
                  <c:v>329.0</c:v>
                </c:pt>
                <c:pt idx="11">
                  <c:v>322.0</c:v>
                </c:pt>
                <c:pt idx="12">
                  <c:v>308.0</c:v>
                </c:pt>
                <c:pt idx="13">
                  <c:v>266.0</c:v>
                </c:pt>
                <c:pt idx="14">
                  <c:v>264.0</c:v>
                </c:pt>
                <c:pt idx="15">
                  <c:v>225.0</c:v>
                </c:pt>
                <c:pt idx="16">
                  <c:v>208.0</c:v>
                </c:pt>
                <c:pt idx="17">
                  <c:v>160.0</c:v>
                </c:pt>
                <c:pt idx="18">
                  <c:v>158.0</c:v>
                </c:pt>
                <c:pt idx="19">
                  <c:v>46.0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Missense_Mutation</c:v>
                </c:pt>
                <c:pt idx="1">
                  <c:v>Silent</c:v>
                </c:pt>
                <c:pt idx="2">
                  <c:v>Nonsense_Mutation</c:v>
                </c:pt>
                <c:pt idx="3">
                  <c:v>Splice_Site</c:v>
                </c:pt>
                <c:pt idx="4">
                  <c:v>Frame_Shift_Del</c:v>
                </c:pt>
                <c:pt idx="5">
                  <c:v>Intron</c:v>
                </c:pt>
                <c:pt idx="6">
                  <c:v>RNA</c:v>
                </c:pt>
                <c:pt idx="7">
                  <c:v>Splice_Region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9393.0</c:v>
                </c:pt>
                <c:pt idx="1">
                  <c:v>3702.0</c:v>
                </c:pt>
                <c:pt idx="2">
                  <c:v>801.0</c:v>
                </c:pt>
                <c:pt idx="3">
                  <c:v>228.0</c:v>
                </c:pt>
                <c:pt idx="4">
                  <c:v>206.0</c:v>
                </c:pt>
                <c:pt idx="5">
                  <c:v>153.0</c:v>
                </c:pt>
                <c:pt idx="6">
                  <c:v>135.0</c:v>
                </c:pt>
                <c:pt idx="7">
                  <c:v>85.0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Amplifications (CN≥3)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44-2661</c:v>
                </c:pt>
                <c:pt idx="1">
                  <c:v>L3-A524</c:v>
                </c:pt>
                <c:pt idx="2">
                  <c:v>70-6722</c:v>
                </c:pt>
                <c:pt idx="3">
                  <c:v>85-8277</c:v>
                </c:pt>
                <c:pt idx="4">
                  <c:v>86-7954</c:v>
                </c:pt>
                <c:pt idx="5">
                  <c:v>37-3789</c:v>
                </c:pt>
                <c:pt idx="6">
                  <c:v>73-A9RS</c:v>
                </c:pt>
                <c:pt idx="7">
                  <c:v>44-3917</c:v>
                </c:pt>
                <c:pt idx="8">
                  <c:v>22-4613</c:v>
                </c:pt>
                <c:pt idx="9">
                  <c:v>18-5595</c:v>
                </c:pt>
                <c:pt idx="10">
                  <c:v>60-2698</c:v>
                </c:pt>
                <c:pt idx="11">
                  <c:v>56-5898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480.0</c:v>
                </c:pt>
                <c:pt idx="1">
                  <c:v>549.0</c:v>
                </c:pt>
                <c:pt idx="2">
                  <c:v>454.0</c:v>
                </c:pt>
                <c:pt idx="3">
                  <c:v>377.0</c:v>
                </c:pt>
                <c:pt idx="4">
                  <c:v>413.0</c:v>
                </c:pt>
                <c:pt idx="5">
                  <c:v>279.0</c:v>
                </c:pt>
                <c:pt idx="6">
                  <c:v>302.0</c:v>
                </c:pt>
                <c:pt idx="7">
                  <c:v>216.0</c:v>
                </c:pt>
                <c:pt idx="8">
                  <c:v>253.0</c:v>
                </c:pt>
                <c:pt idx="9">
                  <c:v>263.0</c:v>
                </c:pt>
                <c:pt idx="10">
                  <c:v>228.0</c:v>
                </c:pt>
                <c:pt idx="11">
                  <c:v>245.0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Deletions (CN≤1)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44-2661</c:v>
                </c:pt>
                <c:pt idx="1">
                  <c:v>L3-A524</c:v>
                </c:pt>
                <c:pt idx="2">
                  <c:v>70-6722</c:v>
                </c:pt>
                <c:pt idx="3">
                  <c:v>85-8277</c:v>
                </c:pt>
                <c:pt idx="4">
                  <c:v>86-7954</c:v>
                </c:pt>
                <c:pt idx="5">
                  <c:v>37-3789</c:v>
                </c:pt>
                <c:pt idx="6">
                  <c:v>73-A9RS</c:v>
                </c:pt>
                <c:pt idx="7">
                  <c:v>44-3917</c:v>
                </c:pt>
                <c:pt idx="8">
                  <c:v>22-4613</c:v>
                </c:pt>
                <c:pt idx="9">
                  <c:v>18-5595</c:v>
                </c:pt>
                <c:pt idx="10">
                  <c:v>60-2698</c:v>
                </c:pt>
                <c:pt idx="11">
                  <c:v>56-5898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331.0</c:v>
                </c:pt>
                <c:pt idx="1">
                  <c:v>30.0</c:v>
                </c:pt>
                <c:pt idx="2">
                  <c:v>85.0</c:v>
                </c:pt>
                <c:pt idx="3">
                  <c:v>121.0</c:v>
                </c:pt>
                <c:pt idx="4">
                  <c:v>31.0</c:v>
                </c:pt>
                <c:pt idx="5">
                  <c:v>159.0</c:v>
                </c:pt>
                <c:pt idx="6">
                  <c:v>47.0</c:v>
                </c:pt>
                <c:pt idx="7">
                  <c:v>118.0</c:v>
                </c:pt>
                <c:pt idx="8">
                  <c:v>48.0</c:v>
                </c:pt>
                <c:pt idx="9">
                  <c:v>30.0</c:v>
                </c:pt>
                <c:pt idx="10">
                  <c:v>54.0</c:v>
                </c:pt>
                <c:pt idx="11">
                  <c:v>31.0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miRNA features</c:v>
                </c:pt>
              </c:strCache>
            </c:strRef>
          </c:tx>
          <c:cat>
            <c:strRef>
              <c:f>Sheet1!$A$2:$A$18</c:f>
              <c:strCache>
                <c:ptCount val="17"/>
                <c:pt idx="0">
                  <c:v>44-2661</c:v>
                </c:pt>
                <c:pt idx="1">
                  <c:v>05-4410</c:v>
                </c:pt>
                <c:pt idx="2">
                  <c:v>18-5595</c:v>
                </c:pt>
                <c:pt idx="3">
                  <c:v>22-4613</c:v>
                </c:pt>
                <c:pt idx="4">
                  <c:v>37-3789</c:v>
                </c:pt>
                <c:pt idx="5">
                  <c:v>55-7815</c:v>
                </c:pt>
                <c:pt idx="6">
                  <c:v>55-7907</c:v>
                </c:pt>
                <c:pt idx="7">
                  <c:v>56-5898</c:v>
                </c:pt>
                <c:pt idx="8">
                  <c:v>56-A5DR</c:v>
                </c:pt>
                <c:pt idx="9">
                  <c:v>60-2698</c:v>
                </c:pt>
                <c:pt idx="10">
                  <c:v>70-6722</c:v>
                </c:pt>
                <c:pt idx="11">
                  <c:v>73-A9RS</c:v>
                </c:pt>
                <c:pt idx="12">
                  <c:v>86-7701</c:v>
                </c:pt>
                <c:pt idx="13">
                  <c:v>86-7954</c:v>
                </c:pt>
                <c:pt idx="14">
                  <c:v>86-8279</c:v>
                </c:pt>
                <c:pt idx="15">
                  <c:v>86-8672</c:v>
                </c:pt>
                <c:pt idx="16">
                  <c:v>L3-A524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3762.0</c:v>
                </c:pt>
                <c:pt idx="1">
                  <c:v>1881.0</c:v>
                </c:pt>
                <c:pt idx="2">
                  <c:v>1881.0</c:v>
                </c:pt>
                <c:pt idx="3">
                  <c:v>1881.0</c:v>
                </c:pt>
                <c:pt idx="4">
                  <c:v>1881.0</c:v>
                </c:pt>
                <c:pt idx="5">
                  <c:v>1881.0</c:v>
                </c:pt>
                <c:pt idx="6">
                  <c:v>1881.0</c:v>
                </c:pt>
                <c:pt idx="7">
                  <c:v>1881.0</c:v>
                </c:pt>
                <c:pt idx="8">
                  <c:v>1881.0</c:v>
                </c:pt>
                <c:pt idx="9">
                  <c:v>1881.0</c:v>
                </c:pt>
                <c:pt idx="10">
                  <c:v>1881.0</c:v>
                </c:pt>
                <c:pt idx="11">
                  <c:v>1881.0</c:v>
                </c:pt>
                <c:pt idx="12">
                  <c:v>1881.0</c:v>
                </c:pt>
                <c:pt idx="13">
                  <c:v>1881.0</c:v>
                </c:pt>
                <c:pt idx="14">
                  <c:v>1881.0</c:v>
                </c:pt>
                <c:pt idx="15">
                  <c:v>1881.0</c:v>
                </c:pt>
                <c:pt idx="16">
                  <c:v>1881.0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Radiation Therapy, NOS</c:v>
                </c:pt>
                <c:pt idx="1">
                  <c:v>Pharmaceutical Therapy, NOS</c:v>
                </c:pt>
                <c:pt idx="2">
                  <c:v>Chemotherapy</c:v>
                </c:pt>
                <c:pt idx="3">
                  <c:v>Surgery, NOS</c:v>
                </c:pt>
                <c:pt idx="4">
                  <c:v>Radiation, External Beam</c:v>
                </c:pt>
                <c:pt idx="5">
                  <c:v>Ancillary Treatment</c:v>
                </c:pt>
                <c:pt idx="6">
                  <c:v>Immunotherapy (Including Vac…</c:v>
                </c:pt>
                <c:pt idx="7">
                  <c:v>Radiation, Internal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18.0</c:v>
                </c:pt>
                <c:pt idx="1">
                  <c:v>16.0</c:v>
                </c:pt>
                <c:pt idx="2">
                  <c:v>7.0</c:v>
                </c:pt>
                <c:pt idx="3">
                  <c:v>7.0</c:v>
                </c:pt>
                <c:pt idx="4">
                  <c:v>5.0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TF-Tumor Free</c:v>
                </c:pt>
                <c:pt idx="1">
                  <c:v>TF-Tumor Free; WT-With Tumor</c:v>
                </c:pt>
                <c:pt idx="2">
                  <c:v>WT-With Tumor</c:v>
                </c:pt>
                <c:pt idx="3">
                  <c:v>WT-With Tumor; TF-Tumor Free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</c:v>
                </c:pt>
                <c:pt idx="1">
                  <c:v>Yes; No</c:v>
                </c:pt>
                <c:pt idx="2">
                  <c:v>No; Yes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13.0</c:v>
                </c:pt>
                <c:pt idx="1">
                  <c:v>3.0</c:v>
                </c:pt>
                <c:pt idx="2">
                  <c:v>4.0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Not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6.0</c:v>
                </c:pt>
                <c:pt idx="1">
                  <c:v>14.0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Representative 20 TCGA Lung Patients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 patients | 10 LUAD + 10 LUSC | 5 smokers + 5 non-smokers per histology</a:t>
            </a:r>
          </a:p>
          <a:p>
            <a:r>
              <a:t>14,892 somatic mutations | Vital status: 12 alive, 8 dead</a:t>
            </a:r>
          </a:p>
          <a:p>
            <a:r>
              <a:t>Clinical, mutation, RNA, RPPA, CNV, miRNA, methylation, and treatment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1. Cohort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Histology distribution (LUAD vs LUSC)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Total patients: 20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LUAD: 10 (50.0%)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LUSC: 10 (50.0%)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Balanced 50/50 histology split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Smoking status (selection strata)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Smokers: 10 (50.0%)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Non-smokers: 10 (50.0%)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5 smokers + 5 non-smokers per histology.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Age at diagnosis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0972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Mean age: 62.6 years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Median age: 65.7 years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Range: 33.3 – 81.7 years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Patients with age data: 20/20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2. Clinical Demographics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Vital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Alive: 12 (60.0%)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Dead: 8 (40.0%)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Death rate: 40.0%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Events (survival_event=1):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Sex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male: 15 (75.0%)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female: 5 (25.0%)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AJCC pathologic stage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0972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Most common stage: Stage IB (n=6)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Early stage (I–II): 18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Advanced stage (III–IV):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3. Data Availability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Multi-omic data coverage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RPPA: 14/20 patients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miRNA: 17/20 patients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Methylation: 20/20 patients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All 20 have clinical, MAF, RNA, CNV, and H&amp;E slide metadata.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 modality row counts (median per patient)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Somatic mutations (MAF rows): median 349, total 14,892</a:t>
            </a:r>
          </a:p>
          <a:p>
            <a:pPr>
              <a:defRPr sz="1600"/>
            </a:pPr>
            <a:r>
              <a:t>Genome-wide RNA rows: 60,660 per sample (121,320 if duplicate samples)</a:t>
            </a:r>
          </a:p>
          <a:p>
            <a:pPr>
              <a:defRPr sz="1600"/>
            </a:pPr>
            <a:r>
              <a:t>RPPA peptide targets: 487 per patient (when available)</a:t>
            </a:r>
          </a:p>
          <a:p>
            <a:pPr>
              <a:defRPr sz="1600"/>
            </a:pPr>
            <a:r>
              <a:t>CNV segments: median 3638</a:t>
            </a:r>
          </a:p>
          <a:p>
            <a:pPr>
              <a:defRPr sz="1600"/>
            </a:pPr>
            <a:r>
              <a:t>miRNA features: median 1881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4. Somatic Mutations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Top driver-gene mutation frequency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0972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TP53 mutated: 16/20 (80.0%)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Genes tracked: 28 important lung drivers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Frequencies from masked somatic MAF (whole-exome SNVs/indels).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Median mutation burden: 349 MAF rows/patient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Max burden: 3,650 (TCGA-18-3409)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Min burden: 46 (TCGA-44-2661)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Driver mutation frequency: LUAD vs LUSC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71323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097280"/>
            <a:ext cx="3840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Grouped bars show histology-specific mutation rates.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KRAS LUAD: 30.0%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CDKN2A LUSC: 50.0%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Somatic mutation burden by patient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0972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Total MAF rows: 14,892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Mean: 745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Median: 349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Higher counts reflect more exome-covered variants called.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Variant classification (cohort-wide)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Total classified variants: 14,892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Missense: 9,393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Silent: 3,702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Nonsense: 801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From whole-exome MAF files (not whole-genome).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5. Copy Number and miRNA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CNV alterations by patient (top 12 by total amp+del)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71323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097280"/>
            <a:ext cx="3840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Total CNV segments: 90,039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Mean amp/patient: 258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Mean del/patient: 65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From ASCAT2 allele-specific segment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miRNA features quantified by patient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0972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Patients with miRNA: 17/20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Missing miRNA: 3 patients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Median features: 1881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6. Treatment and Outcomes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Treatment types (patient mentions)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68580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89520" y="109728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Patients with treatment types: 19/20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Coverage: 95.0%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Disease response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Reported: 17/20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Missing: 3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TF = Tumor Free; WT = With Tumor.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Prior treatment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No: 13 (65.0%)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No; Yes: 4 (20.0%)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Yes; No: 3 (15.0%)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Progression or recurrence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6692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972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Progression/recurrence Yes: 6 (30.0%)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Not reported: 14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Used as resistance proxy where direct labels are sparse.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7. Per-Patient Summary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Master patient summary (all 20)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7772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</a:tblGrid>
              <a:tr h="252548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Smk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Vital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Mut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Driver genes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05-4410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ALK; BRAF; EGFR; FGFR1; 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44-2661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EGFR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44-3917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KEAP1; KRAS; NTRK1; ROS1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55-7815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KEAP1; KRAS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55-7907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ALK; KMT2C; KMT2D; KRAS;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73-A9RS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BRAF; CDKN2A; KMT2C; NTR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86-7701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66.28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STK11; TP53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86-7954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68.62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TP53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86-8279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ALK; ERBB2; KMT2C; NF1; 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86-8672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CDKN2A; FAT1; KEAP1; TP5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18-3409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ALK; CDKN2A; DDR2; FAT1;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18-5595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CUL3; KEAP1; PIK3CA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22-4613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ALK; CDKN2A; NF1; PIK3CA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37-3789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KMT2D; TP53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56-5898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TP53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56-A5DR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BRAF; CDKN2A; FAT1; KMT2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60-2698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CDKN2A; CUL3; EGFR; KMT2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70-6722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EGFR; KMT2D; PIK3CA; TP5</a:t>
                      </a:r>
                    </a:p>
                  </a:txBody>
                  <a:tcPr/>
                </a:tc>
              </a:tr>
              <a:tr h="2525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85-8277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CDKN2A; NOTCH1; TP53</a:t>
                      </a:r>
                    </a:p>
                  </a:txBody>
                  <a:tcPr/>
                </a:tc>
              </a:tr>
              <a:tr h="2525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L3-A524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LUSC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Stage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FAT1; NFE2L2; NTRK3; TP5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636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Full table: master_patient_summary.csv in visual_report/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8. Detailed Visualizations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Cohort Composition</a:t>
            </a:r>
          </a:p>
        </p:txBody>
      </p:sp>
      <p:pic>
        <p:nvPicPr>
          <p:cNvPr id="3" name="Picture 2" descr="01_cohor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Histology Smoking Matrix</a:t>
            </a:r>
          </a:p>
        </p:txBody>
      </p:sp>
      <p:pic>
        <p:nvPicPr>
          <p:cNvPr id="3" name="Picture 2" descr="02_histology_smokin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80650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 Availability Heatmap</a:t>
            </a:r>
          </a:p>
        </p:txBody>
      </p:sp>
      <p:pic>
        <p:nvPicPr>
          <p:cNvPr id="3" name="Picture 2" descr="03_data_availabil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60428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Heatmap intensity reflects presence (mutations) or log-scaled expression (RNA).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Mutation Burden By Patient</a:t>
            </a:r>
          </a:p>
        </p:txBody>
      </p:sp>
      <p:pic>
        <p:nvPicPr>
          <p:cNvPr id="3" name="Picture 2" descr="04_mutation_burden_by_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781454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Variant Classification Cohort</a:t>
            </a:r>
          </a:p>
        </p:txBody>
      </p:sp>
      <p:pic>
        <p:nvPicPr>
          <p:cNvPr id="3" name="Picture 2" descr="05_variant_classification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81473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Driver Gene Mutation Matrix</a:t>
            </a:r>
          </a:p>
        </p:txBody>
      </p:sp>
      <p:pic>
        <p:nvPicPr>
          <p:cNvPr id="3" name="Picture 2" descr="06_driver_gene_mut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557261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Chromosome Mutation Landscape</a:t>
            </a:r>
          </a:p>
        </p:txBody>
      </p:sp>
      <p:pic>
        <p:nvPicPr>
          <p:cNvPr id="3" name="Picture 2" descr="07_chromosome_mutation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2323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Whole-exome mutation counts by chromosome (WXS coverage, not full genome).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Important Gene Rna Heatmap</a:t>
            </a:r>
          </a:p>
        </p:txBody>
      </p:sp>
      <p:pic>
        <p:nvPicPr>
          <p:cNvPr id="3" name="Picture 2" descr="08_important_gene_rn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5572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Heatmap intensity reflects presence (mutations) or log-scaled expression (RNA).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Cnv Alteration Burden</a:t>
            </a:r>
          </a:p>
        </p:txBody>
      </p:sp>
      <p:pic>
        <p:nvPicPr>
          <p:cNvPr id="3" name="Picture 2" descr="09_cnv_alteration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Mirna Coverage</a:t>
            </a:r>
          </a:p>
        </p:txBody>
      </p:sp>
      <p:pic>
        <p:nvPicPr>
          <p:cNvPr id="3" name="Picture 2" descr="10_mirna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683772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Summary and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Cohort: 20 representative patients (10 LUAD + 10 LUSC; balanced smoking strata).</a:t>
            </a:r>
          </a:p>
          <a:p>
            <a:pPr>
              <a:defRPr sz="1600"/>
            </a:pPr>
            <a:r>
              <a:t>Total somatic mutations: 14,892 MAF rows (median 349/patient).</a:t>
            </a:r>
          </a:p>
          <a:p>
            <a:pPr>
              <a:defRPr sz="1600"/>
            </a:pPr>
            <a:r>
              <a:t>Data: RNA all 20; RPPA 14/20; miRNA 17/20; methylation 20/20.</a:t>
            </a:r>
          </a:p>
          <a:p>
            <a:pPr>
              <a:defRPr sz="1600"/>
            </a:pPr>
            <a:r>
              <a:t>Mutations are whole-exome SNVs/indels; fusions and CNAs require separate assays.</a:t>
            </a:r>
          </a:p>
          <a:p>
            <a:pPr>
              <a:defRPr sz="1600"/>
            </a:pPr>
            <a:r>
              <a:t>CNV from SNP6/WGS segment files; RNA TPM for 30 curated driver genes.</a:t>
            </a:r>
          </a:p>
          <a:p>
            <a:pPr>
              <a:defRPr sz="1600"/>
            </a:pPr>
            <a:r>
              <a:t>Treatment/resistance: progression and disease response used as proxies.</a:t>
            </a:r>
          </a:p>
          <a:p>
            <a:pPr>
              <a:defRPr sz="1600"/>
            </a:pPr>
            <a:r>
              <a:t>Regenerate: python3 data/tcga_lung/visualize_representative_patients.py</a:t>
            </a:r>
          </a:p>
          <a:p>
            <a:pPr>
              <a:defRPr sz="1600"/>
            </a:pPr>
            <a:r>
              <a:t>PowerPoint: python3 data/tcga_lung/generate_representative_patient_powerpoint.py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