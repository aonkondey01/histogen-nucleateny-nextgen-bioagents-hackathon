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TCGA Lung Cancer Visual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956 patients | 1,053 diagnostic slides | LUAD 478 | LUSC 478</a:t>
            </a:r>
          </a:p>
          <a:p>
            <a:r>
              <a:t>Important-gene mutations, RNA expression, RPPA protein expression, and exploratory survival associations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Cohort 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Cohort size and availability</a:t>
            </a:r>
          </a:p>
        </p:txBody>
      </p:sp>
      <p:pic>
        <p:nvPicPr>
          <p:cNvPr id="3" name="Picture 2" descr="01_cohort_size_and_avail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Luad vs lusc patient counts</a:t>
            </a:r>
          </a:p>
        </p:txBody>
      </p:sp>
      <p:pic>
        <p:nvPicPr>
          <p:cNvPr id="3" name="Picture 2" descr="02_luad_vs_lusc_patient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20848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Age distribution</a:t>
            </a:r>
          </a:p>
        </p:txBody>
      </p:sp>
      <p:pic>
        <p:nvPicPr>
          <p:cNvPr id="3" name="Picture 2" descr="03_ag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Demographics and clinical variables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Sex distribution</a:t>
            </a:r>
          </a:p>
        </p:txBody>
      </p:sp>
      <p:pic>
        <p:nvPicPr>
          <p:cNvPr id="3" name="Picture 2" descr="04_sex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20848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Race distribution</a:t>
            </a:r>
          </a:p>
        </p:txBody>
      </p:sp>
      <p:pic>
        <p:nvPicPr>
          <p:cNvPr id="3" name="Picture 2" descr="05_rac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34838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Ethnicity distribution</a:t>
            </a:r>
          </a:p>
        </p:txBody>
      </p:sp>
      <p:pic>
        <p:nvPicPr>
          <p:cNvPr id="3" name="Picture 2" descr="06_ethnicit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25511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Smoking history</a:t>
            </a:r>
          </a:p>
        </p:txBody>
      </p:sp>
      <p:pic>
        <p:nvPicPr>
          <p:cNvPr id="3" name="Picture 2" descr="07_smoking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39502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Ajcc pathologic stage</a:t>
            </a:r>
          </a:p>
        </p:txBody>
      </p:sp>
      <p:pic>
        <p:nvPicPr>
          <p:cNvPr id="3" name="Picture 2" descr="08_ajcc_pathologic_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104790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Vital status</a:t>
            </a:r>
          </a:p>
        </p:txBody>
      </p:sp>
      <p:pic>
        <p:nvPicPr>
          <p:cNvPr id="3" name="Picture 2" descr="09_vital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208483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Driver mutations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Driver mutation frequency luad lusc</a:t>
            </a:r>
          </a:p>
        </p:txBody>
      </p:sp>
      <p:pic>
        <p:nvPicPr>
          <p:cNvPr id="3" name="Picture 2" descr="10_driver_mutation_frequency_luad_lu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1149639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Clinical differences by mutation status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Clinical death rate by mutation status</a:t>
            </a:r>
          </a:p>
        </p:txBody>
      </p:sp>
      <p:pic>
        <p:nvPicPr>
          <p:cNvPr id="3" name="Picture 2" descr="11_clinical_death_rate_by_mutation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648707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Clinical median age by mutation status</a:t>
            </a:r>
          </a:p>
        </p:txBody>
      </p:sp>
      <p:pic>
        <p:nvPicPr>
          <p:cNvPr id="3" name="Picture 2" descr="12_clinical_median_age_by_mutation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648707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Clinical advanced stage by mutation status</a:t>
            </a:r>
          </a:p>
        </p:txBody>
      </p:sp>
      <p:pic>
        <p:nvPicPr>
          <p:cNvPr id="3" name="Picture 2" descr="13_clinical_advanced_stage_by_mutation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648707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Exploratory survival associations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Mutation survival pvalues</a:t>
            </a:r>
          </a:p>
        </p:txBody>
      </p:sp>
      <p:pic>
        <p:nvPicPr>
          <p:cNvPr id="3" name="Picture 2" descr="14_mutation_survival_p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814730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Rna expression survival pvalues</a:t>
            </a:r>
          </a:p>
        </p:txBody>
      </p:sp>
      <p:pic>
        <p:nvPicPr>
          <p:cNvPr id="3" name="Picture 2" descr="15_rna_expression_survival_p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814730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Protein expression survival pvalues</a:t>
            </a:r>
          </a:p>
        </p:txBody>
      </p:sp>
      <p:pic>
        <p:nvPicPr>
          <p:cNvPr id="3" name="Picture 2" descr="16_protein_expression_survival_p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814730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Significant Kaplan-Meier curves (p &lt; 0.05)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Mutation km NOTCH2</a:t>
            </a:r>
          </a:p>
        </p:txBody>
      </p:sp>
      <p:pic>
        <p:nvPicPr>
          <p:cNvPr id="3" name="Picture 2" descr="significant_km_mutation_km_NOTCH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Mutation km CDKN2A</a:t>
            </a:r>
          </a:p>
        </p:txBody>
      </p:sp>
      <p:pic>
        <p:nvPicPr>
          <p:cNvPr id="3" name="Picture 2" descr="significant_km_mutation_km_CDKN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Rna km FAT1</a:t>
            </a:r>
          </a:p>
        </p:txBody>
      </p:sp>
      <p:pic>
        <p:nvPicPr>
          <p:cNvPr id="3" name="Picture 2" descr="significant_km_rna_km_FA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Rna km SOX2</a:t>
            </a:r>
          </a:p>
        </p:txBody>
      </p:sp>
      <p:pic>
        <p:nvPicPr>
          <p:cNvPr id="3" name="Picture 2" descr="significant_km_rna_km_SO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Rna km PTEN</a:t>
            </a:r>
          </a:p>
        </p:txBody>
      </p:sp>
      <p:pic>
        <p:nvPicPr>
          <p:cNvPr id="3" name="Picture 2" descr="significant_km_rna_km_PT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Protein km Sox2</a:t>
            </a:r>
          </a:p>
        </p:txBody>
      </p:sp>
      <p:pic>
        <p:nvPicPr>
          <p:cNvPr id="3" name="Picture 2" descr="significant_km_protein_km_So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 and 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Patients/cases: 956</a:t>
            </a:r>
          </a:p>
          <a:p>
            <a:pPr>
              <a:defRPr sz="1600"/>
            </a:pPr>
            <a:r>
              <a:t>Diagnostic slides: 1053</a:t>
            </a:r>
          </a:p>
          <a:p>
            <a:pPr>
              <a:defRPr sz="1600"/>
            </a:pPr>
            <a:r>
              <a:t>Mutation-analyzable patients: 932</a:t>
            </a:r>
          </a:p>
          <a:p>
            <a:pPr>
              <a:defRPr sz="1600"/>
            </a:pPr>
            <a:r>
              <a:t>Expression-analyzable patients: 951</a:t>
            </a:r>
          </a:p>
          <a:p>
            <a:pPr>
              <a:defRPr sz="1600"/>
            </a:pPr>
            <a:r>
              <a:t>Important mutation rows: 3012</a:t>
            </a:r>
          </a:p>
          <a:p>
            <a:pPr>
              <a:defRPr sz="1600"/>
            </a:pPr>
            <a:r>
              <a:t>Important RNA expression rows: 32310</a:t>
            </a:r>
          </a:p>
          <a:p>
            <a:pPr>
              <a:defRPr sz="1600"/>
            </a:pPr>
            <a:r>
              <a:t>Important RPPA protein rows: 12724</a:t>
            </a:r>
          </a:p>
          <a:p>
            <a:pPr>
              <a:defRPr sz="1600"/>
            </a:pPr>
            <a:r>
              <a:t>Survival analyses are exploratory and unadjusted.</a:t>
            </a:r>
          </a:p>
          <a:p>
            <a:pPr>
              <a:defRPr sz="1600"/>
            </a:pPr>
            <a:r>
              <a:t>RNA/protein survival uses median splits.</a:t>
            </a:r>
          </a:p>
          <a:p>
            <a:pPr>
              <a:defRPr sz="1600"/>
            </a:pPr>
            <a:r>
              <a:t>Direct drug-resistance labels are sparse in public TCGA clinical data.</a:t>
            </a:r>
          </a:p>
          <a:p>
            <a:pPr>
              <a:defRPr sz="1600"/>
            </a:pPr>
            <a:r>
              <a:t>Mutation MAF files capture SNVs/indels; fusions and CNAs need separate assays.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