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TCGA Lung Cancer Visual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956 patients | 1,053 diagnostic slides | LUAD 478 | LUSC 478</a:t>
            </a:r>
          </a:p>
          <a:p>
            <a:r>
              <a:t>Important-gene mutations, RNA expression, RPPA protein expression, and exploratory survival associations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Cohort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Cohort size and availability</a:t>
            </a:r>
          </a:p>
        </p:txBody>
      </p:sp>
      <p:pic>
        <p:nvPicPr>
          <p:cNvPr id="3" name="Picture 2" descr="01_cohort_size_and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Luad vs lusc patient counts</a:t>
            </a:r>
          </a:p>
        </p:txBody>
      </p:sp>
      <p:pic>
        <p:nvPicPr>
          <p:cNvPr id="3" name="Picture 2" descr="02_luad_vs_lusc_patient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Age distribution</a:t>
            </a:r>
          </a:p>
        </p:txBody>
      </p:sp>
      <p:pic>
        <p:nvPicPr>
          <p:cNvPr id="3" name="Picture 2" descr="03_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Demographics and clinical variables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Sex distribution</a:t>
            </a:r>
          </a:p>
        </p:txBody>
      </p:sp>
      <p:pic>
        <p:nvPicPr>
          <p:cNvPr id="3" name="Picture 2" descr="04_sex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Race distribution</a:t>
            </a:r>
          </a:p>
        </p:txBody>
      </p:sp>
      <p:pic>
        <p:nvPicPr>
          <p:cNvPr id="3" name="Picture 2" descr="05_ra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Ethnicity distribution</a:t>
            </a:r>
          </a:p>
        </p:txBody>
      </p:sp>
      <p:pic>
        <p:nvPicPr>
          <p:cNvPr id="3" name="Picture 2" descr="06_ethnic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25511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Smoking history</a:t>
            </a:r>
          </a:p>
        </p:txBody>
      </p:sp>
      <p:pic>
        <p:nvPicPr>
          <p:cNvPr id="3" name="Picture 2" descr="07_smok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39502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Ajcc pathologic stage</a:t>
            </a:r>
          </a:p>
        </p:txBody>
      </p:sp>
      <p:pic>
        <p:nvPicPr>
          <p:cNvPr id="3" name="Picture 2" descr="08_ajcc_pathologic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104790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Vital status</a:t>
            </a:r>
          </a:p>
        </p:txBody>
      </p:sp>
      <p:pic>
        <p:nvPicPr>
          <p:cNvPr id="3" name="Picture 2" descr="09_vital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20848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 mutations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Driver mutation frequency luad lusc</a:t>
            </a:r>
          </a:p>
        </p:txBody>
      </p:sp>
      <p:pic>
        <p:nvPicPr>
          <p:cNvPr id="3" name="Picture 2" descr="10_driver_mutation_frequency_luad_lu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114963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differences by mutation status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Clinical death rate by mutation status</a:t>
            </a:r>
          </a:p>
        </p:txBody>
      </p:sp>
      <p:pic>
        <p:nvPicPr>
          <p:cNvPr id="3" name="Picture 2" descr="11_clinical_death_rate_by_mutation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64870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Clinical median age by mutation status</a:t>
            </a:r>
          </a:p>
        </p:txBody>
      </p:sp>
      <p:pic>
        <p:nvPicPr>
          <p:cNvPr id="3" name="Picture 2" descr="12_clinical_median_age_by_mutation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64870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Clinical advanced stage by mutation status</a:t>
            </a:r>
          </a:p>
        </p:txBody>
      </p:sp>
      <p:pic>
        <p:nvPicPr>
          <p:cNvPr id="3" name="Picture 2" descr="13_clinical_advanced_stage_by_mutation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64870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survival associations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Mutation survival pvalues</a:t>
            </a:r>
          </a:p>
        </p:txBody>
      </p:sp>
      <p:pic>
        <p:nvPicPr>
          <p:cNvPr id="3" name="Picture 2" descr="14_mutation_survival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81473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Rna expression survival pvalues</a:t>
            </a:r>
          </a:p>
        </p:txBody>
      </p:sp>
      <p:pic>
        <p:nvPicPr>
          <p:cNvPr id="3" name="Picture 2" descr="15_rna_expression_survival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81473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Protein expression survival pvalues</a:t>
            </a:r>
          </a:p>
        </p:txBody>
      </p:sp>
      <p:pic>
        <p:nvPicPr>
          <p:cNvPr id="3" name="Picture 2" descr="16_protein_expression_survival_p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81473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Kaplan-Meier curves (top associations)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Mutation survival km NOTCH2</a:t>
            </a:r>
          </a:p>
        </p:txBody>
      </p:sp>
      <p:pic>
        <p:nvPicPr>
          <p:cNvPr id="3" name="Picture 2" descr="17_mutation_survival_km_NOTC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Mutation survival km CDKN2A</a:t>
            </a:r>
          </a:p>
        </p:txBody>
      </p:sp>
      <p:pic>
        <p:nvPicPr>
          <p:cNvPr id="3" name="Picture 2" descr="17_mutation_survival_km_CDKN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Mutation survival km TP53</a:t>
            </a:r>
          </a:p>
        </p:txBody>
      </p:sp>
      <p:pic>
        <p:nvPicPr>
          <p:cNvPr id="3" name="Picture 2" descr="17_mutation_survival_km_TP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Rna survival km FAT1</a:t>
            </a:r>
          </a:p>
        </p:txBody>
      </p:sp>
      <p:pic>
        <p:nvPicPr>
          <p:cNvPr id="3" name="Picture 2" descr="18_rna_survival_km_FA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Rna survival km SOX2</a:t>
            </a:r>
          </a:p>
        </p:txBody>
      </p:sp>
      <p:pic>
        <p:nvPicPr>
          <p:cNvPr id="3" name="Picture 2" descr="18_rna_survival_km_SO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Rna survival km PTEN</a:t>
            </a:r>
          </a:p>
        </p:txBody>
      </p:sp>
      <p:pic>
        <p:nvPicPr>
          <p:cNvPr id="3" name="Picture 2" descr="18_rna_survival_km_P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Protein survival km Sox2</a:t>
            </a:r>
          </a:p>
        </p:txBody>
      </p:sp>
      <p:pic>
        <p:nvPicPr>
          <p:cNvPr id="3" name="Picture 2" descr="19_protein_survival_km_So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Protein survival km BRAF pS445</a:t>
            </a:r>
          </a:p>
        </p:txBody>
      </p:sp>
      <p:pic>
        <p:nvPicPr>
          <p:cNvPr id="3" name="Picture 2" descr="19_protein_survival_km_BRAF_pS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Protein survival km CMET pY1235</a:t>
            </a:r>
          </a:p>
        </p:txBody>
      </p:sp>
      <p:pic>
        <p:nvPicPr>
          <p:cNvPr id="3" name="Picture 2" descr="19_protein_survival_km_CMET_pY1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115214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Patients/cases: 956</a:t>
            </a:r>
          </a:p>
          <a:p>
            <a:pPr>
              <a:defRPr sz="1600"/>
            </a:pPr>
            <a:r>
              <a:t>Diagnostic slides: 1053</a:t>
            </a:r>
          </a:p>
          <a:p>
            <a:pPr>
              <a:defRPr sz="1600"/>
            </a:pPr>
            <a:r>
              <a:t>Mutation-analyzable patients: 932</a:t>
            </a:r>
          </a:p>
          <a:p>
            <a:pPr>
              <a:defRPr sz="1600"/>
            </a:pPr>
            <a:r>
              <a:t>Expression-analyzable patients: 951</a:t>
            </a:r>
          </a:p>
          <a:p>
            <a:pPr>
              <a:defRPr sz="1600"/>
            </a:pPr>
            <a:r>
              <a:t>Important mutation rows: 3012</a:t>
            </a:r>
          </a:p>
          <a:p>
            <a:pPr>
              <a:defRPr sz="1600"/>
            </a:pPr>
            <a:r>
              <a:t>Important RNA expression rows: 32310</a:t>
            </a:r>
          </a:p>
          <a:p>
            <a:pPr>
              <a:defRPr sz="1600"/>
            </a:pPr>
            <a:r>
              <a:t>Important RPPA protein rows: 12724</a:t>
            </a:r>
          </a:p>
          <a:p>
            <a:pPr>
              <a:defRPr sz="1600"/>
            </a:pPr>
            <a:r>
              <a:t>Survival analyses are exploratory and unadjusted.</a:t>
            </a:r>
          </a:p>
          <a:p>
            <a:pPr>
              <a:defRPr sz="1600"/>
            </a:pPr>
            <a:r>
              <a:t>RNA/protein survival uses median splits.</a:t>
            </a:r>
          </a:p>
          <a:p>
            <a:pPr>
              <a:defRPr sz="1600"/>
            </a:pPr>
            <a:r>
              <a:t>Direct drug-resistance labels are sparse in public TCGA clinical data.</a:t>
            </a:r>
          </a:p>
          <a:p>
            <a:pPr>
              <a:defRPr sz="1600"/>
            </a:pPr>
            <a:r>
              <a:t>Mutation MAF files capture SNVs/indels; fusions and CNAs need separate assays.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