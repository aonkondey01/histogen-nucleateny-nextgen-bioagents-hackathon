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core tension: trials stratify by mutation, but patients with the same EGFR, ALK, or KRAS alteration respond very differently. The missing variable is the tumor microenvironment and how immune and stromal cells are organized in space.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this is not about finding new mutations. The mutation is known and druggable. The puzzle is why two EGFR-mutant patients on the same TKI or trial arm have different durability.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anchor examples for judges and clinicians. The through-line: genotype-qualified patients still fail or see modest benefit. Resistance mechanisms include bypass signaling, but also immunosuppressive TME remodeling.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nuance: EGFR/ALK tumors often have LOW tumor mutational burden and cold immune phenotypes — the issue is not always 'too many mutations.' For KRAS G12C, resistance includes TME shifts toward immunologically cold states after treatment.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HistoTME bridges histology and transcriptomics. It was originally developed for NSCLC immunotherapy response prediction. HistoTMEv2 extends across 25 cancer types including lung.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signatures come from curated bulk RNA programs. The downstream module shows Immune Inflamed phenotype predicts better ICI outcomes than PD-L1 alone in several subgroups.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Spatial mode is the differentiator for your pitch. predict_spatial.py outputs enrichment scores per tile coordinate — a computational analogue of spatial transcriptomics screening.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repo as an end-to-end demo path. Pilot with --limit 3 slides for the hackathon. Clinical metadata branch adds patient-level joins for EGFR/KRAS/ALK stratification.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prevents the 'but it's not real spatial omics' objection. You're proposing a two-layer strategy: scalable H&amp;E inference first, spatial transcriptomics validation second.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TCGA lacks trial treatment arms, so you frame this as retrospective hypothesis generation that motivates prospective biopsy studies and trial enrichment designs.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concrete about what is demo-ready vs stretch. Judges reward a working pilot over promises.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clinical translation path: retrospective TCGA → trial biobank re-analysis → prospective enrichment biomarker on pre-treatment H&amp;E.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for Q&amp;A. Offer to share the deck and pilot notebooks after the talk.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on trial selection, spatial validation plan, and live demo timeline.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640080" y="1645920"/>
            <a:ext cx="7863840" cy="2011680"/>
          </a:xfrm>
          <a:prstGeom prst="rect">
            <a:avLst/>
          </a:prstGeom>
          <a:noFill/>
        </p:spPr>
        <p:txBody>
          <a:bodyPr wrap="none">
            <a:spAutoFit/>
          </a:bodyPr>
          <a:lstStyle/>
          <a:p>
            <a:pPr>
              <a:defRPr sz="4400" b="1">
                <a:solidFill>
                  <a:srgbClr val="FFFFFF"/>
                </a:solidFill>
              </a:defRPr>
            </a:pPr>
            <a:r>
              <a:t>Same Mutation.</a:t>
            </a:r>
          </a:p>
          <a:p>
            <a:r>
              <a:t>Different Outcome.</a:t>
            </a:r>
          </a:p>
          <a:p>
            <a:pPr>
              <a:defRPr sz="4400" b="1">
                <a:solidFill>
                  <a:srgbClr val="FFFFFF"/>
                </a:solidFill>
              </a:defRPr>
            </a:pPr>
            <a:r>
              <a:t>Different Outcome.</a:t>
            </a:r>
          </a:p>
        </p:txBody>
      </p:sp>
      <p:sp>
        <p:nvSpPr>
          <p:cNvPr id="3" name="TextBox 2"/>
          <p:cNvSpPr txBox="1"/>
          <p:nvPr/>
        </p:nvSpPr>
        <p:spPr>
          <a:xfrm>
            <a:off x="658368" y="3657600"/>
            <a:ext cx="7772400" cy="1097280"/>
          </a:xfrm>
          <a:prstGeom prst="rect">
            <a:avLst/>
          </a:prstGeom>
          <a:noFill/>
        </p:spPr>
        <p:txBody>
          <a:bodyPr wrap="none">
            <a:spAutoFit/>
          </a:bodyPr>
          <a:lstStyle/>
          <a:p>
            <a:pPr>
              <a:defRPr sz="2000">
                <a:solidFill>
                  <a:srgbClr val="BED7E6"/>
                </a:solidFill>
              </a:defRPr>
            </a:pPr>
            <a:r>
              <a:t>Mapping the tumor microenvironment in lung cancer</a:t>
            </a:r>
          </a:p>
          <a:p>
            <a:pPr>
              <a:defRPr sz="2000">
                <a:solidFill>
                  <a:srgbClr val="BED7E6"/>
                </a:solidFill>
              </a:defRPr>
            </a:pPr>
            <a:r>
              <a:t>when targeted therapies fail despite actionable mutations</a:t>
            </a:r>
          </a:p>
        </p:txBody>
      </p:sp>
      <p:sp>
        <p:nvSpPr>
          <p:cNvPr id="4" name="TextBox 3"/>
          <p:cNvSpPr txBox="1"/>
          <p:nvPr/>
        </p:nvSpPr>
        <p:spPr>
          <a:xfrm>
            <a:off x="658368" y="5029200"/>
            <a:ext cx="7772400" cy="731520"/>
          </a:xfrm>
          <a:prstGeom prst="rect">
            <a:avLst/>
          </a:prstGeom>
          <a:noFill/>
        </p:spPr>
        <p:txBody>
          <a:bodyPr wrap="none">
            <a:spAutoFit/>
          </a:bodyPr>
          <a:lstStyle/>
          <a:p>
            <a:pPr>
              <a:defRPr sz="1400">
                <a:solidFill>
                  <a:srgbClr val="008080"/>
                </a:solidFill>
              </a:defRPr>
            </a:pPr>
            <a:r>
              <a:t>PEAT-Nucleate BioHack 2026  •  HistoTME + TCGA Lung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138160" cy="594360"/>
          </a:xfrm>
          <a:prstGeom prst="rect">
            <a:avLst/>
          </a:prstGeom>
          <a:noFill/>
        </p:spPr>
        <p:txBody>
          <a:bodyPr wrap="none">
            <a:spAutoFit/>
          </a:bodyPr>
          <a:lstStyle/>
          <a:p>
            <a:pPr>
              <a:defRPr sz="3000" b="1">
                <a:solidFill>
                  <a:srgbClr val="FFFFFF"/>
                </a:solidFill>
              </a:defRPr>
            </a:pPr>
            <a:r>
              <a:t>The clinical problem</a:t>
            </a:r>
          </a:p>
        </p:txBody>
      </p:sp>
      <p:sp>
        <p:nvSpPr>
          <p:cNvPr id="4" name="TextBox 3"/>
          <p:cNvSpPr txBox="1"/>
          <p:nvPr/>
        </p:nvSpPr>
        <p:spPr>
          <a:xfrm>
            <a:off x="502920" y="713232"/>
            <a:ext cx="8138160" cy="320040"/>
          </a:xfrm>
          <a:prstGeom prst="rect">
            <a:avLst/>
          </a:prstGeom>
          <a:noFill/>
        </p:spPr>
        <p:txBody>
          <a:bodyPr wrap="none">
            <a:spAutoFit/>
          </a:bodyPr>
          <a:lstStyle/>
          <a:p>
            <a:pPr>
              <a:defRPr sz="1400">
                <a:solidFill>
                  <a:srgbClr val="C8DCEB"/>
                </a:solidFill>
              </a:defRPr>
            </a:pPr>
            <a:r>
              <a:t>Mutation panels are necessary — but not sufficient</a:t>
            </a:r>
          </a:p>
        </p:txBody>
      </p:sp>
      <p:sp>
        <p:nvSpPr>
          <p:cNvPr id="5" name="TextBox 4"/>
          <p:cNvSpPr txBox="1"/>
          <p:nvPr/>
        </p:nvSpPr>
        <p:spPr>
          <a:xfrm>
            <a:off x="594360" y="1325880"/>
            <a:ext cx="7955279" cy="4937760"/>
          </a:xfrm>
          <a:prstGeom prst="rect">
            <a:avLst/>
          </a:prstGeom>
          <a:noFill/>
        </p:spPr>
        <p:txBody>
          <a:bodyPr wrap="square" anchor="t">
            <a:spAutoFit/>
          </a:bodyPr>
          <a:lstStyle/>
          <a:p>
            <a:pPr>
              <a:spcAft>
                <a:spcPts val="1000"/>
              </a:spcAft>
              <a:defRPr sz="1900">
                <a:solidFill>
                  <a:srgbClr val="374151"/>
                </a:solidFill>
              </a:defRPr>
            </a:pPr>
            <a:r>
              <a:t>NSCLC trials increasingly enroll by driver: EGFR, ALK, KRAS G12C, MET, RET…</a:t>
            </a:r>
          </a:p>
          <a:p>
            <a:pPr>
              <a:spcAft>
                <a:spcPts val="1000"/>
              </a:spcAft>
              <a:defRPr sz="1900">
                <a:solidFill>
                  <a:srgbClr val="374151"/>
                </a:solidFill>
              </a:defRPr>
            </a:pPr>
            <a:r>
              <a:t>Initial targeted responses can be strong, yet median benefit is limited by resistance</a:t>
            </a:r>
          </a:p>
          <a:p>
            <a:pPr>
              <a:spcAft>
                <a:spcPts val="1000"/>
              </a:spcAft>
              <a:defRPr sz="1900">
                <a:solidFill>
                  <a:srgbClr val="374151"/>
                </a:solidFill>
              </a:defRPr>
            </a:pPr>
            <a:r>
              <a:t>Immunotherapy combinations often fail in oncogene-driven disease despite 'targetable' biology</a:t>
            </a:r>
          </a:p>
          <a:p>
            <a:pPr>
              <a:spcAft>
                <a:spcPts val="1000"/>
              </a:spcAft>
              <a:defRPr sz="1900">
                <a:solidFill>
                  <a:srgbClr val="374151"/>
                </a:solidFill>
              </a:defRPr>
            </a:pPr>
            <a:r>
              <a:t>Trial readouts report averages for 'EGFR+' or 'KRAS G12C+' — masking within-group heterogeneity</a:t>
            </a:r>
          </a:p>
          <a:p>
            <a:pPr>
              <a:spcAft>
                <a:spcPts val="1000"/>
              </a:spcAft>
              <a:defRPr sz="1900">
                <a:solidFill>
                  <a:srgbClr val="374151"/>
                </a:solidFill>
              </a:defRPr>
            </a:pPr>
          </a:p>
          <a:p>
            <a:pPr>
              <a:spcAft>
                <a:spcPts val="1000"/>
              </a:spcAft>
              <a:defRPr sz="1900">
                <a:solidFill>
                  <a:srgbClr val="374151"/>
                </a:solidFill>
              </a:defRPr>
            </a:pPr>
            <a:r>
              <a:t>Key question: What differs between responders and non-responders with the same mutation?</a:t>
            </a:r>
          </a:p>
        </p:txBody>
      </p:sp>
      <p:sp>
        <p:nvSpPr>
          <p:cNvPr id="6" name="TextBox 5"/>
          <p:cNvSpPr txBox="1"/>
          <p:nvPr/>
        </p:nvSpPr>
        <p:spPr>
          <a:xfrm>
            <a:off x="457200" y="6446520"/>
            <a:ext cx="8229600" cy="320040"/>
          </a:xfrm>
          <a:prstGeom prst="rect">
            <a:avLst/>
          </a:prstGeom>
          <a:noFill/>
        </p:spPr>
        <p:txBody>
          <a:bodyPr wrap="none">
            <a:spAutoFit/>
          </a:bodyPr>
          <a:lstStyle/>
          <a:p>
            <a:pPr algn="r">
              <a:defRPr sz="900">
                <a:solidFill>
                  <a:srgbClr val="374151"/>
                </a:solidFill>
              </a:defRPr>
            </a:pPr>
            <a:r>
              <a:t>PEAT-Nucleate BioHack 2026  |  Lung cancer TME mapping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138160" cy="594360"/>
          </a:xfrm>
          <a:prstGeom prst="rect">
            <a:avLst/>
          </a:prstGeom>
          <a:noFill/>
        </p:spPr>
        <p:txBody>
          <a:bodyPr wrap="none">
            <a:spAutoFit/>
          </a:bodyPr>
          <a:lstStyle/>
          <a:p>
            <a:pPr>
              <a:defRPr sz="3000" b="1">
                <a:solidFill>
                  <a:srgbClr val="FFFFFF"/>
                </a:solidFill>
              </a:defRPr>
            </a:pPr>
            <a:r>
              <a:t>Trials with the right mutation — disappointing results</a:t>
            </a:r>
          </a:p>
        </p:txBody>
      </p:sp>
      <p:graphicFrame>
        <p:nvGraphicFramePr>
          <p:cNvPr id="4" name="Table 3"/>
          <p:cNvGraphicFramePr>
            <a:graphicFrameLocks noGrp="1"/>
          </p:cNvGraphicFramePr>
          <p:nvPr/>
        </p:nvGraphicFramePr>
        <p:xfrm>
          <a:off x="411480" y="1371600"/>
          <a:ext cx="7406640" cy="4754880"/>
        </p:xfrm>
        <a:graphic>
          <a:graphicData uri="http://schemas.openxmlformats.org/drawingml/2006/table">
            <a:tbl>
              <a:tblPr firstRow="1" bandRow="1">
                <a:tableStyleId>{5C22544A-7EE6-4342-B048-85BDC9FD1C3A}</a:tableStyleId>
              </a:tblPr>
              <a:tblGrid>
                <a:gridCol w="1234440"/>
                <a:gridCol w="1417320"/>
                <a:gridCol w="2148840"/>
                <a:gridCol w="2606040"/>
              </a:tblGrid>
              <a:tr h="792480">
                <a:tc>
                  <a:txBody>
                    <a:bodyPr/>
                    <a:lstStyle/>
                    <a:p>
                      <a:pPr algn="ctr">
                        <a:defRPr b="1" sz="1100">
                          <a:solidFill>
                            <a:srgbClr val="FFFFFF"/>
                          </a:solidFill>
                        </a:defRPr>
                      </a:pPr>
                      <a:r>
                        <a:t>Trial</a:t>
                      </a:r>
                    </a:p>
                  </a:txBody>
                  <a:tcPr>
                    <a:solidFill>
                      <a:srgbClr val="003366"/>
                    </a:solidFill>
                  </a:tcPr>
                </a:tc>
                <a:tc>
                  <a:txBody>
                    <a:bodyPr/>
                    <a:lstStyle/>
                    <a:p>
                      <a:pPr algn="ctr">
                        <a:defRPr b="1" sz="1100">
                          <a:solidFill>
                            <a:srgbClr val="FFFFFF"/>
                          </a:solidFill>
                        </a:defRPr>
                      </a:pPr>
                      <a:r>
                        <a:t>Population</a:t>
                      </a:r>
                    </a:p>
                  </a:txBody>
                  <a:tcPr>
                    <a:solidFill>
                      <a:srgbClr val="003366"/>
                    </a:solidFill>
                  </a:tcPr>
                </a:tc>
                <a:tc>
                  <a:txBody>
                    <a:bodyPr/>
                    <a:lstStyle/>
                    <a:p>
                      <a:pPr algn="ctr">
                        <a:defRPr b="1" sz="1100">
                          <a:solidFill>
                            <a:srgbClr val="FFFFFF"/>
                          </a:solidFill>
                        </a:defRPr>
                      </a:pPr>
                      <a:r>
                        <a:t>Intervention</a:t>
                      </a:r>
                    </a:p>
                  </a:txBody>
                  <a:tcPr>
                    <a:solidFill>
                      <a:srgbClr val="003366"/>
                    </a:solidFill>
                  </a:tcPr>
                </a:tc>
                <a:tc>
                  <a:txBody>
                    <a:bodyPr/>
                    <a:lstStyle/>
                    <a:p>
                      <a:pPr algn="ctr">
                        <a:defRPr b="1" sz="1100">
                          <a:solidFill>
                            <a:srgbClr val="FFFFFF"/>
                          </a:solidFill>
                        </a:defRPr>
                      </a:pPr>
                      <a:r>
                        <a:t>Outcome</a:t>
                      </a:r>
                    </a:p>
                  </a:txBody>
                  <a:tcPr>
                    <a:solidFill>
                      <a:srgbClr val="003366"/>
                    </a:solidFill>
                  </a:tcPr>
                </a:tc>
              </a:tr>
              <a:tr h="792480">
                <a:tc>
                  <a:txBody>
                    <a:bodyPr/>
                    <a:lstStyle/>
                    <a:p>
                      <a:pPr>
                        <a:defRPr sz="1000">
                          <a:solidFill>
                            <a:srgbClr val="374151"/>
                          </a:solidFill>
                        </a:defRPr>
                      </a:pPr>
                      <a:r>
                        <a:t>KEYNOTE-789</a:t>
                      </a:r>
                    </a:p>
                  </a:txBody>
                  <a:tcPr/>
                </a:tc>
                <a:tc>
                  <a:txBody>
                    <a:bodyPr/>
                    <a:lstStyle/>
                    <a:p>
                      <a:pPr>
                        <a:defRPr sz="1000">
                          <a:solidFill>
                            <a:srgbClr val="374151"/>
                          </a:solidFill>
                        </a:defRPr>
                      </a:pPr>
                      <a:r>
                        <a:t>EGFR+ post-TKI</a:t>
                      </a:r>
                    </a:p>
                  </a:txBody>
                  <a:tcPr/>
                </a:tc>
                <a:tc>
                  <a:txBody>
                    <a:bodyPr/>
                    <a:lstStyle/>
                    <a:p>
                      <a:pPr>
                        <a:defRPr sz="1000">
                          <a:solidFill>
                            <a:srgbClr val="374151"/>
                          </a:solidFill>
                        </a:defRPr>
                      </a:pPr>
                      <a:r>
                        <a:t>Pembro + chemo vs chemo</a:t>
                      </a:r>
                    </a:p>
                  </a:txBody>
                  <a:tcPr/>
                </a:tc>
                <a:tc>
                  <a:txBody>
                    <a:bodyPr/>
                    <a:lstStyle/>
                    <a:p>
                      <a:pPr>
                        <a:defRPr sz="1000">
                          <a:solidFill>
                            <a:srgbClr val="374151"/>
                          </a:solidFill>
                        </a:defRPr>
                      </a:pPr>
                      <a:r>
                        <a:t>No significant PFS/OS benefit</a:t>
                      </a:r>
                    </a:p>
                  </a:txBody>
                  <a:tcPr/>
                </a:tc>
              </a:tr>
              <a:tr h="792480">
                <a:tc>
                  <a:txBody>
                    <a:bodyPr/>
                    <a:lstStyle/>
                    <a:p>
                      <a:pPr>
                        <a:defRPr sz="1000">
                          <a:solidFill>
                            <a:srgbClr val="374151"/>
                          </a:solidFill>
                        </a:defRPr>
                      </a:pPr>
                      <a:r>
                        <a:t>CheckMate 722</a:t>
                      </a:r>
                    </a:p>
                  </a:txBody>
                  <a:tcPr>
                    <a:solidFill>
                      <a:srgbClr val="F5F7FA"/>
                    </a:solidFill>
                  </a:tcPr>
                </a:tc>
                <a:tc>
                  <a:txBody>
                    <a:bodyPr/>
                    <a:lstStyle/>
                    <a:p>
                      <a:pPr>
                        <a:defRPr sz="1000">
                          <a:solidFill>
                            <a:srgbClr val="374151"/>
                          </a:solidFill>
                        </a:defRPr>
                      </a:pPr>
                      <a:r>
                        <a:t>EGFR+ post-TKI</a:t>
                      </a:r>
                    </a:p>
                  </a:txBody>
                  <a:tcPr>
                    <a:solidFill>
                      <a:srgbClr val="F5F7FA"/>
                    </a:solidFill>
                  </a:tcPr>
                </a:tc>
                <a:tc>
                  <a:txBody>
                    <a:bodyPr/>
                    <a:lstStyle/>
                    <a:p>
                      <a:pPr>
                        <a:defRPr sz="1000">
                          <a:solidFill>
                            <a:srgbClr val="374151"/>
                          </a:solidFill>
                        </a:defRPr>
                      </a:pPr>
                      <a:r>
                        <a:t>Nivo + chemo vs chemo</a:t>
                      </a:r>
                    </a:p>
                  </a:txBody>
                  <a:tcPr>
                    <a:solidFill>
                      <a:srgbClr val="F5F7FA"/>
                    </a:solidFill>
                  </a:tcPr>
                </a:tc>
                <a:tc>
                  <a:txBody>
                    <a:bodyPr/>
                    <a:lstStyle/>
                    <a:p>
                      <a:pPr>
                        <a:defRPr sz="1000">
                          <a:solidFill>
                            <a:srgbClr val="374151"/>
                          </a:solidFill>
                        </a:defRPr>
                      </a:pPr>
                      <a:r>
                        <a:t>No significant benefit</a:t>
                      </a:r>
                    </a:p>
                  </a:txBody>
                  <a:tcPr>
                    <a:solidFill>
                      <a:srgbClr val="F5F7FA"/>
                    </a:solidFill>
                  </a:tcPr>
                </a:tc>
              </a:tr>
              <a:tr h="792480">
                <a:tc>
                  <a:txBody>
                    <a:bodyPr/>
                    <a:lstStyle/>
                    <a:p>
                      <a:pPr>
                        <a:defRPr sz="1000">
                          <a:solidFill>
                            <a:srgbClr val="374151"/>
                          </a:solidFill>
                        </a:defRPr>
                      </a:pPr>
                      <a:r>
                        <a:t>TATTON</a:t>
                      </a:r>
                    </a:p>
                  </a:txBody>
                  <a:tcPr/>
                </a:tc>
                <a:tc>
                  <a:txBody>
                    <a:bodyPr/>
                    <a:lstStyle/>
                    <a:p>
                      <a:pPr>
                        <a:defRPr sz="1000">
                          <a:solidFill>
                            <a:srgbClr val="374151"/>
                          </a:solidFill>
                        </a:defRPr>
                      </a:pPr>
                      <a:r>
                        <a:t>EGFR-mutant</a:t>
                      </a:r>
                    </a:p>
                  </a:txBody>
                  <a:tcPr/>
                </a:tc>
                <a:tc>
                  <a:txBody>
                    <a:bodyPr/>
                    <a:lstStyle/>
                    <a:p>
                      <a:pPr>
                        <a:defRPr sz="1000">
                          <a:solidFill>
                            <a:srgbClr val="374151"/>
                          </a:solidFill>
                        </a:defRPr>
                      </a:pPr>
                      <a:r>
                        <a:t>Osimertinib + durvalumab</a:t>
                      </a:r>
                    </a:p>
                  </a:txBody>
                  <a:tcPr/>
                </a:tc>
                <a:tc>
                  <a:txBody>
                    <a:bodyPr/>
                    <a:lstStyle/>
                    <a:p>
                      <a:pPr>
                        <a:defRPr sz="1000">
                          <a:solidFill>
                            <a:srgbClr val="374151"/>
                          </a:solidFill>
                        </a:defRPr>
                      </a:pPr>
                      <a:r>
                        <a:t>Arm halted — ILD toxicity</a:t>
                      </a:r>
                    </a:p>
                  </a:txBody>
                  <a:tcPr/>
                </a:tc>
              </a:tr>
              <a:tr h="792480">
                <a:tc>
                  <a:txBody>
                    <a:bodyPr/>
                    <a:lstStyle/>
                    <a:p>
                      <a:pPr>
                        <a:defRPr sz="1000">
                          <a:solidFill>
                            <a:srgbClr val="374151"/>
                          </a:solidFill>
                        </a:defRPr>
                      </a:pPr>
                      <a:r>
                        <a:t>IMpower151</a:t>
                      </a:r>
                    </a:p>
                  </a:txBody>
                  <a:tcPr>
                    <a:solidFill>
                      <a:srgbClr val="F5F7FA"/>
                    </a:solidFill>
                  </a:tcPr>
                </a:tc>
                <a:tc>
                  <a:txBody>
                    <a:bodyPr/>
                    <a:lstStyle/>
                    <a:p>
                      <a:pPr>
                        <a:defRPr sz="1000">
                          <a:solidFill>
                            <a:srgbClr val="374151"/>
                          </a:solidFill>
                        </a:defRPr>
                      </a:pPr>
                      <a:r>
                        <a:t>EGFR/ALK enriched</a:t>
                      </a:r>
                    </a:p>
                  </a:txBody>
                  <a:tcPr>
                    <a:solidFill>
                      <a:srgbClr val="F5F7FA"/>
                    </a:solidFill>
                  </a:tcPr>
                </a:tc>
                <a:tc>
                  <a:txBody>
                    <a:bodyPr/>
                    <a:lstStyle/>
                    <a:p>
                      <a:pPr>
                        <a:defRPr sz="1000">
                          <a:solidFill>
                            <a:srgbClr val="374151"/>
                          </a:solidFill>
                        </a:defRPr>
                      </a:pPr>
                      <a:r>
                        <a:t>Atezo + bev + chemo</a:t>
                      </a:r>
                    </a:p>
                  </a:txBody>
                  <a:tcPr>
                    <a:solidFill>
                      <a:srgbClr val="F5F7FA"/>
                    </a:solidFill>
                  </a:tcPr>
                </a:tc>
                <a:tc>
                  <a:txBody>
                    <a:bodyPr/>
                    <a:lstStyle/>
                    <a:p>
                      <a:pPr>
                        <a:defRPr sz="1000">
                          <a:solidFill>
                            <a:srgbClr val="374151"/>
                          </a:solidFill>
                        </a:defRPr>
                      </a:pPr>
                      <a:r>
                        <a:t>Negative primary PFS endpoint</a:t>
                      </a:r>
                    </a:p>
                  </a:txBody>
                  <a:tcPr>
                    <a:solidFill>
                      <a:srgbClr val="F5F7FA"/>
                    </a:solidFill>
                  </a:tcPr>
                </a:tc>
              </a:tr>
              <a:tr h="792480">
                <a:tc>
                  <a:txBody>
                    <a:bodyPr/>
                    <a:lstStyle/>
                    <a:p>
                      <a:pPr>
                        <a:defRPr sz="1000">
                          <a:solidFill>
                            <a:srgbClr val="374151"/>
                          </a:solidFill>
                        </a:defRPr>
                      </a:pPr>
                      <a:r>
                        <a:t>CodeBreaK 200</a:t>
                      </a:r>
                    </a:p>
                  </a:txBody>
                  <a:tcPr/>
                </a:tc>
                <a:tc>
                  <a:txBody>
                    <a:bodyPr/>
                    <a:lstStyle/>
                    <a:p>
                      <a:pPr>
                        <a:defRPr sz="1000">
                          <a:solidFill>
                            <a:srgbClr val="374151"/>
                          </a:solidFill>
                        </a:defRPr>
                      </a:pPr>
                      <a:r>
                        <a:t>KRAS G12C</a:t>
                      </a:r>
                    </a:p>
                  </a:txBody>
                  <a:tcPr/>
                </a:tc>
                <a:tc>
                  <a:txBody>
                    <a:bodyPr/>
                    <a:lstStyle/>
                    <a:p>
                      <a:pPr>
                        <a:defRPr sz="1000">
                          <a:solidFill>
                            <a:srgbClr val="374151"/>
                          </a:solidFill>
                        </a:defRPr>
                      </a:pPr>
                      <a:r>
                        <a:t>Sotorasib vs docetaxel</a:t>
                      </a:r>
                    </a:p>
                  </a:txBody>
                  <a:tcPr/>
                </a:tc>
                <a:tc>
                  <a:txBody>
                    <a:bodyPr/>
                    <a:lstStyle/>
                    <a:p>
                      <a:pPr>
                        <a:defRPr sz="1000">
                          <a:solidFill>
                            <a:srgbClr val="374151"/>
                          </a:solidFill>
                        </a:defRPr>
                      </a:pPr>
                      <a:r>
                        <a:t>PFS improved; OS not improved</a:t>
                      </a:r>
                    </a:p>
                  </a:txBody>
                  <a:tcPr/>
                </a:tc>
              </a:tr>
            </a:tbl>
          </a:graphicData>
        </a:graphic>
      </p:graphicFrame>
      <p:sp>
        <p:nvSpPr>
          <p:cNvPr id="5" name="TextBox 4"/>
          <p:cNvSpPr txBox="1"/>
          <p:nvPr/>
        </p:nvSpPr>
        <p:spPr>
          <a:xfrm>
            <a:off x="457200" y="6446520"/>
            <a:ext cx="8229600" cy="320040"/>
          </a:xfrm>
          <a:prstGeom prst="rect">
            <a:avLst/>
          </a:prstGeom>
          <a:noFill/>
        </p:spPr>
        <p:txBody>
          <a:bodyPr wrap="none">
            <a:spAutoFit/>
          </a:bodyPr>
          <a:lstStyle/>
          <a:p>
            <a:pPr algn="r">
              <a:defRPr sz="900">
                <a:solidFill>
                  <a:srgbClr val="374151"/>
                </a:solidFill>
              </a:defRPr>
            </a:pPr>
            <a:r>
              <a:t>PEAT-Nucleate BioHack 2026  |  Lung cancer TME mapping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138160" cy="594360"/>
          </a:xfrm>
          <a:prstGeom prst="rect">
            <a:avLst/>
          </a:prstGeom>
          <a:noFill/>
        </p:spPr>
        <p:txBody>
          <a:bodyPr wrap="none">
            <a:spAutoFit/>
          </a:bodyPr>
          <a:lstStyle/>
          <a:p>
            <a:pPr>
              <a:defRPr sz="3000" b="1">
                <a:solidFill>
                  <a:srgbClr val="FFFFFF"/>
                </a:solidFill>
              </a:defRPr>
            </a:pPr>
            <a:r>
              <a:t>Hypothesis</a:t>
            </a:r>
          </a:p>
        </p:txBody>
      </p:sp>
      <p:sp>
        <p:nvSpPr>
          <p:cNvPr id="4" name="TextBox 3"/>
          <p:cNvSpPr txBox="1"/>
          <p:nvPr/>
        </p:nvSpPr>
        <p:spPr>
          <a:xfrm>
            <a:off x="502920" y="713232"/>
            <a:ext cx="8138160" cy="320040"/>
          </a:xfrm>
          <a:prstGeom prst="rect">
            <a:avLst/>
          </a:prstGeom>
          <a:noFill/>
        </p:spPr>
        <p:txBody>
          <a:bodyPr wrap="none">
            <a:spAutoFit/>
          </a:bodyPr>
          <a:lstStyle/>
          <a:p>
            <a:pPr>
              <a:defRPr sz="1400">
                <a:solidFill>
                  <a:srgbClr val="C8DCEB"/>
                </a:solidFill>
              </a:defRPr>
            </a:pPr>
            <a:r>
              <a:t>TME architecture explains residual heterogeneity</a:t>
            </a:r>
          </a:p>
        </p:txBody>
      </p:sp>
      <p:sp>
        <p:nvSpPr>
          <p:cNvPr id="5" name="TextBox 4"/>
          <p:cNvSpPr txBox="1"/>
          <p:nvPr/>
        </p:nvSpPr>
        <p:spPr>
          <a:xfrm>
            <a:off x="594360" y="1325880"/>
            <a:ext cx="7955279" cy="4937760"/>
          </a:xfrm>
          <a:prstGeom prst="rect">
            <a:avLst/>
          </a:prstGeom>
          <a:noFill/>
        </p:spPr>
        <p:txBody>
          <a:bodyPr wrap="square" anchor="t">
            <a:spAutoFit/>
          </a:bodyPr>
          <a:lstStyle/>
          <a:p>
            <a:pPr>
              <a:spcAft>
                <a:spcPts val="1000"/>
              </a:spcAft>
              <a:defRPr sz="1800">
                <a:solidFill>
                  <a:srgbClr val="374151"/>
                </a:solidFill>
              </a:defRPr>
            </a:pPr>
            <a:r>
              <a:t>Patients with identical driver mutations occupy distinct tumor microenvironment states</a:t>
            </a:r>
          </a:p>
          <a:p>
            <a:pPr lvl="1">
              <a:spcAft>
                <a:spcPts val="1000"/>
              </a:spcAft>
              <a:defRPr sz="1600">
                <a:solidFill>
                  <a:srgbClr val="374151"/>
                </a:solidFill>
              </a:defRPr>
            </a:pPr>
            <a:r>
              <a:t>Immune desert vs immune inflamed</a:t>
            </a:r>
          </a:p>
          <a:p>
            <a:pPr lvl="1">
              <a:spcAft>
                <a:spcPts val="1000"/>
              </a:spcAft>
              <a:defRPr sz="1600">
                <a:solidFill>
                  <a:srgbClr val="374151"/>
                </a:solidFill>
              </a:defRPr>
            </a:pPr>
            <a:r>
              <a:t>Macrophage/Treg-rich niches vs effector T-cell infiltration</a:t>
            </a:r>
          </a:p>
          <a:p>
            <a:pPr lvl="1">
              <a:spcAft>
                <a:spcPts val="1000"/>
              </a:spcAft>
              <a:defRPr sz="1600">
                <a:solidFill>
                  <a:srgbClr val="374151"/>
                </a:solidFill>
              </a:defRPr>
            </a:pPr>
            <a:r>
              <a:t>CAF/stromal barriers vs angiogenic remodeling</a:t>
            </a:r>
          </a:p>
          <a:p>
            <a:pPr>
              <a:spcAft>
                <a:spcPts val="1000"/>
              </a:spcAft>
              <a:defRPr sz="1800">
                <a:solidFill>
                  <a:srgbClr val="374151"/>
                </a:solidFill>
              </a:defRPr>
            </a:pPr>
          </a:p>
          <a:p>
            <a:pPr>
              <a:spcAft>
                <a:spcPts val="1000"/>
              </a:spcAft>
              <a:defRPr sz="1800">
                <a:solidFill>
                  <a:srgbClr val="374151"/>
                </a:solidFill>
              </a:defRPr>
            </a:pPr>
            <a:r>
              <a:t>Spatial organization matters — not just bulk immune scores</a:t>
            </a:r>
          </a:p>
          <a:p>
            <a:pPr>
              <a:spcAft>
                <a:spcPts val="1000"/>
              </a:spcAft>
              <a:defRPr sz="1800">
                <a:solidFill>
                  <a:srgbClr val="374151"/>
                </a:solidFill>
              </a:defRPr>
            </a:pPr>
            <a:r>
              <a:t>Genomics tells us what to target; TME tells us whether therapy will work</a:t>
            </a:r>
          </a:p>
          <a:p>
            <a:pPr>
              <a:spcAft>
                <a:spcPts val="1000"/>
              </a:spcAft>
              <a:defRPr sz="1800">
                <a:solidFill>
                  <a:srgbClr val="374151"/>
                </a:solidFill>
              </a:defRPr>
            </a:pPr>
          </a:p>
          <a:p>
            <a:pPr>
              <a:spcAft>
                <a:spcPts val="1000"/>
              </a:spcAft>
              <a:defRPr sz="1800">
                <a:solidFill>
                  <a:srgbClr val="374151"/>
                </a:solidFill>
              </a:defRPr>
            </a:pPr>
            <a:r>
              <a:t>Spatial transcriptomics is gold standard — but costly and rarely run at trial scale</a:t>
            </a:r>
          </a:p>
          <a:p>
            <a:pPr>
              <a:spcAft>
                <a:spcPts val="1000"/>
              </a:spcAft>
              <a:defRPr sz="1800">
                <a:solidFill>
                  <a:srgbClr val="374151"/>
                </a:solidFill>
              </a:defRPr>
            </a:pPr>
            <a:r>
              <a:t>We need a scalable first pass on standard diagnostic H&amp;E</a:t>
            </a:r>
          </a:p>
        </p:txBody>
      </p:sp>
      <p:sp>
        <p:nvSpPr>
          <p:cNvPr id="6" name="TextBox 5"/>
          <p:cNvSpPr txBox="1"/>
          <p:nvPr/>
        </p:nvSpPr>
        <p:spPr>
          <a:xfrm>
            <a:off x="457200" y="6446520"/>
            <a:ext cx="8229600" cy="320040"/>
          </a:xfrm>
          <a:prstGeom prst="rect">
            <a:avLst/>
          </a:prstGeom>
          <a:noFill/>
        </p:spPr>
        <p:txBody>
          <a:bodyPr wrap="none">
            <a:spAutoFit/>
          </a:bodyPr>
          <a:lstStyle/>
          <a:p>
            <a:pPr algn="r">
              <a:defRPr sz="900">
                <a:solidFill>
                  <a:srgbClr val="374151"/>
                </a:solidFill>
              </a:defRPr>
            </a:pPr>
            <a:r>
              <a:t>PEAT-Nucleate BioHack 2026  |  Lung cancer TME mapping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138160" cy="594360"/>
          </a:xfrm>
          <a:prstGeom prst="rect">
            <a:avLst/>
          </a:prstGeom>
          <a:noFill/>
        </p:spPr>
        <p:txBody>
          <a:bodyPr wrap="none">
            <a:spAutoFit/>
          </a:bodyPr>
          <a:lstStyle/>
          <a:p>
            <a:pPr>
              <a:defRPr sz="3000" b="1">
                <a:solidFill>
                  <a:srgbClr val="FFFFFF"/>
                </a:solidFill>
              </a:defRPr>
            </a:pPr>
            <a:r>
              <a:t>Our approach: HistoTME</a:t>
            </a:r>
          </a:p>
        </p:txBody>
      </p:sp>
      <p:sp>
        <p:nvSpPr>
          <p:cNvPr id="4" name="TextBox 3"/>
          <p:cNvSpPr txBox="1"/>
          <p:nvPr/>
        </p:nvSpPr>
        <p:spPr>
          <a:xfrm>
            <a:off x="502920" y="713232"/>
            <a:ext cx="8138160" cy="320040"/>
          </a:xfrm>
          <a:prstGeom prst="rect">
            <a:avLst/>
          </a:prstGeom>
          <a:noFill/>
        </p:spPr>
        <p:txBody>
          <a:bodyPr wrap="none">
            <a:spAutoFit/>
          </a:bodyPr>
          <a:lstStyle/>
          <a:p>
            <a:pPr>
              <a:defRPr sz="1400">
                <a:solidFill>
                  <a:srgbClr val="C8DCEB"/>
                </a:solidFill>
              </a:defRPr>
            </a:pPr>
            <a:r>
              <a:t>Infer TME programs from H&amp;E whole-slide images</a:t>
            </a:r>
          </a:p>
        </p:txBody>
      </p:sp>
      <p:pic>
        <p:nvPicPr>
          <p:cNvPr id="5" name="Picture 4" descr="HistoTME_outline.png"/>
          <p:cNvPicPr>
            <a:picLocks noChangeAspect="1"/>
          </p:cNvPicPr>
          <p:nvPr/>
        </p:nvPicPr>
        <p:blipFill>
          <a:blip r:embed="rId2"/>
          <a:stretch>
            <a:fillRect/>
          </a:stretch>
        </p:blipFill>
        <p:spPr>
          <a:xfrm>
            <a:off x="411480" y="1234440"/>
            <a:ext cx="5029200" cy="1529530"/>
          </a:xfrm>
          <a:prstGeom prst="rect">
            <a:avLst/>
          </a:prstGeom>
        </p:spPr>
      </p:pic>
      <p:sp>
        <p:nvSpPr>
          <p:cNvPr id="6" name="TextBox 5"/>
          <p:cNvSpPr txBox="1"/>
          <p:nvPr/>
        </p:nvSpPr>
        <p:spPr>
          <a:xfrm>
            <a:off x="5577840" y="1325880"/>
            <a:ext cx="3200400" cy="4937760"/>
          </a:xfrm>
          <a:prstGeom prst="rect">
            <a:avLst/>
          </a:prstGeom>
          <a:noFill/>
        </p:spPr>
        <p:txBody>
          <a:bodyPr wrap="square" anchor="t">
            <a:spAutoFit/>
          </a:bodyPr>
          <a:lstStyle/>
          <a:p>
            <a:pPr>
              <a:spcAft>
                <a:spcPts val="1000"/>
              </a:spcAft>
              <a:defRPr sz="1500">
                <a:solidFill>
                  <a:srgbClr val="374151"/>
                </a:solidFill>
              </a:defRPr>
            </a:pPr>
            <a:r>
              <a:t>Weakly supervised deep learning on pathology foundation-model embeddings</a:t>
            </a:r>
          </a:p>
          <a:p>
            <a:pPr>
              <a:spcAft>
                <a:spcPts val="1000"/>
              </a:spcAft>
              <a:defRPr sz="1500">
                <a:solidFill>
                  <a:srgbClr val="374151"/>
                </a:solidFill>
              </a:defRPr>
            </a:pPr>
            <a:r>
              <a:t>Predicts 29 curated gene-expression signatures</a:t>
            </a:r>
          </a:p>
          <a:p>
            <a:pPr>
              <a:spcAft>
                <a:spcPts val="1000"/>
              </a:spcAft>
              <a:defRPr sz="1500">
                <a:solidFill>
                  <a:srgbClr val="374151"/>
                </a:solidFill>
              </a:defRPr>
            </a:pPr>
            <a:r>
              <a:t>No extra staining; works on archived diagnostic slides</a:t>
            </a:r>
          </a:p>
          <a:p>
            <a:pPr>
              <a:spcAft>
                <a:spcPts val="1000"/>
              </a:spcAft>
              <a:defRPr sz="1500">
                <a:solidFill>
                  <a:srgbClr val="374151"/>
                </a:solidFill>
              </a:defRPr>
            </a:pPr>
            <a:r>
              <a:t>Published in NSCLC; pan-cancer HistoTMEv2 extension</a:t>
            </a:r>
          </a:p>
          <a:p>
            <a:pPr>
              <a:spcAft>
                <a:spcPts val="1000"/>
              </a:spcAft>
              <a:defRPr sz="1500">
                <a:solidFill>
                  <a:srgbClr val="374151"/>
                </a:solidFill>
              </a:defRPr>
            </a:pPr>
          </a:p>
          <a:p>
            <a:pPr>
              <a:spcAft>
                <a:spcPts val="1000"/>
              </a:spcAft>
              <a:defRPr sz="1500">
                <a:solidFill>
                  <a:srgbClr val="374151"/>
                </a:solidFill>
              </a:defRPr>
            </a:pPr>
            <a:r>
              <a:t>Bulk mode → patient/slide-level TME profile</a:t>
            </a:r>
          </a:p>
          <a:p>
            <a:pPr>
              <a:spcAft>
                <a:spcPts val="1000"/>
              </a:spcAft>
              <a:defRPr sz="1500">
                <a:solidFill>
                  <a:srgbClr val="374151"/>
                </a:solidFill>
              </a:defRPr>
            </a:pPr>
            <a:r>
              <a:t>Spatial mode → tile-level maps across the WSI</a:t>
            </a:r>
          </a:p>
        </p:txBody>
      </p:sp>
      <p:sp>
        <p:nvSpPr>
          <p:cNvPr id="7" name="TextBox 6"/>
          <p:cNvSpPr txBox="1"/>
          <p:nvPr/>
        </p:nvSpPr>
        <p:spPr>
          <a:xfrm>
            <a:off x="457200" y="6446520"/>
            <a:ext cx="8229600" cy="320040"/>
          </a:xfrm>
          <a:prstGeom prst="rect">
            <a:avLst/>
          </a:prstGeom>
          <a:noFill/>
        </p:spPr>
        <p:txBody>
          <a:bodyPr wrap="none">
            <a:spAutoFit/>
          </a:bodyPr>
          <a:lstStyle/>
          <a:p>
            <a:pPr algn="r">
              <a:defRPr sz="900">
                <a:solidFill>
                  <a:srgbClr val="374151"/>
                </a:solidFill>
              </a:defRPr>
            </a:pPr>
            <a:r>
              <a:t>PEAT-Nucleate BioHack 2026  |  Lung cancer TME mapping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138160" cy="594360"/>
          </a:xfrm>
          <a:prstGeom prst="rect">
            <a:avLst/>
          </a:prstGeom>
          <a:noFill/>
        </p:spPr>
        <p:txBody>
          <a:bodyPr wrap="none">
            <a:spAutoFit/>
          </a:bodyPr>
          <a:lstStyle/>
          <a:p>
            <a:pPr>
              <a:defRPr sz="3000" b="1">
                <a:solidFill>
                  <a:srgbClr val="FFFFFF"/>
                </a:solidFill>
              </a:defRPr>
            </a:pPr>
            <a:r>
              <a:t>29 interpretable TME signatures</a:t>
            </a:r>
          </a:p>
        </p:txBody>
      </p:sp>
      <p:sp>
        <p:nvSpPr>
          <p:cNvPr id="4" name="TextBox 3"/>
          <p:cNvSpPr txBox="1"/>
          <p:nvPr/>
        </p:nvSpPr>
        <p:spPr>
          <a:xfrm>
            <a:off x="502920" y="713232"/>
            <a:ext cx="8138160" cy="320040"/>
          </a:xfrm>
          <a:prstGeom prst="rect">
            <a:avLst/>
          </a:prstGeom>
          <a:noFill/>
        </p:spPr>
        <p:txBody>
          <a:bodyPr wrap="none">
            <a:spAutoFit/>
          </a:bodyPr>
          <a:lstStyle/>
          <a:p>
            <a:pPr>
              <a:defRPr sz="1400">
                <a:solidFill>
                  <a:srgbClr val="C8DCEB"/>
                </a:solidFill>
              </a:defRPr>
            </a:pPr>
            <a:r>
              <a:t>Biology clinicians recognize — not a black-box score</a:t>
            </a:r>
          </a:p>
        </p:txBody>
      </p:sp>
      <p:sp>
        <p:nvSpPr>
          <p:cNvPr id="5" name="TextBox 4"/>
          <p:cNvSpPr txBox="1"/>
          <p:nvPr/>
        </p:nvSpPr>
        <p:spPr>
          <a:xfrm>
            <a:off x="594360" y="1325880"/>
            <a:ext cx="7955279" cy="4937760"/>
          </a:xfrm>
          <a:prstGeom prst="rect">
            <a:avLst/>
          </a:prstGeom>
          <a:noFill/>
        </p:spPr>
        <p:txBody>
          <a:bodyPr wrap="square" anchor="t">
            <a:spAutoFit/>
          </a:bodyPr>
          <a:lstStyle/>
          <a:p>
            <a:pPr>
              <a:spcAft>
                <a:spcPts val="1000"/>
              </a:spcAft>
              <a:defRPr sz="1700">
                <a:solidFill>
                  <a:srgbClr val="374151"/>
                </a:solidFill>
              </a:defRPr>
            </a:pPr>
            <a:r>
              <a:t>Immune-active: Effector_cells, T_cells, NK_cells, M1_signatures, Antitumor_cytokines, MHCII</a:t>
            </a:r>
          </a:p>
          <a:p>
            <a:pPr>
              <a:spcAft>
                <a:spcPts val="1000"/>
              </a:spcAft>
              <a:defRPr sz="1700">
                <a:solidFill>
                  <a:srgbClr val="374151"/>
                </a:solidFill>
              </a:defRPr>
            </a:pPr>
            <a:r>
              <a:t>Immunosuppressive: Treg, MDSC, Checkpoint_inhibition, Th2_signature, Protumor_cytokines</a:t>
            </a:r>
          </a:p>
          <a:p>
            <a:pPr>
              <a:spcAft>
                <a:spcPts val="1000"/>
              </a:spcAft>
              <a:defRPr sz="1700">
                <a:solidFill>
                  <a:srgbClr val="374151"/>
                </a:solidFill>
              </a:defRPr>
            </a:pPr>
            <a:r>
              <a:t>Myeloid: Macrophages, Macrophage_DC_traffic, Neutrophil_signature, Granulocyte_traffic</a:t>
            </a:r>
          </a:p>
          <a:p>
            <a:pPr>
              <a:spcAft>
                <a:spcPts val="1000"/>
              </a:spcAft>
              <a:defRPr sz="1700">
                <a:solidFill>
                  <a:srgbClr val="374151"/>
                </a:solidFill>
              </a:defRPr>
            </a:pPr>
            <a:r>
              <a:t>Stroma / escape: CAF, Angiogenesis, Matrix_remodeling, EMT_signature</a:t>
            </a:r>
          </a:p>
          <a:p>
            <a:pPr>
              <a:spcAft>
                <a:spcPts val="1000"/>
              </a:spcAft>
              <a:defRPr sz="1700">
                <a:solidFill>
                  <a:srgbClr val="374151"/>
                </a:solidFill>
              </a:defRPr>
            </a:pPr>
            <a:r>
              <a:t>Tumor state: Proliferation_rate</a:t>
            </a:r>
          </a:p>
          <a:p>
            <a:pPr>
              <a:spcAft>
                <a:spcPts val="1000"/>
              </a:spcAft>
              <a:defRPr sz="1700">
                <a:solidFill>
                  <a:srgbClr val="374151"/>
                </a:solidFill>
              </a:defRPr>
            </a:pPr>
          </a:p>
          <a:p>
            <a:pPr>
              <a:spcAft>
                <a:spcPts val="1000"/>
              </a:spcAft>
              <a:defRPr sz="1700">
                <a:solidFill>
                  <a:srgbClr val="374151"/>
                </a:solidFill>
              </a:defRPr>
            </a:pPr>
            <a:r>
              <a:t>Downstream clustering → Immune Desert vs Immune Inflamed archetypes</a:t>
            </a:r>
          </a:p>
          <a:p>
            <a:pPr>
              <a:spcAft>
                <a:spcPts val="1000"/>
              </a:spcAft>
              <a:defRPr sz="1700">
                <a:solidFill>
                  <a:srgbClr val="374151"/>
                </a:solidFill>
              </a:defRPr>
            </a:pPr>
            <a:r>
              <a:t>Validated against IHC (CD4/CD8, B cells, macrophages) in published analyses</a:t>
            </a:r>
          </a:p>
        </p:txBody>
      </p:sp>
      <p:sp>
        <p:nvSpPr>
          <p:cNvPr id="6" name="TextBox 5"/>
          <p:cNvSpPr txBox="1"/>
          <p:nvPr/>
        </p:nvSpPr>
        <p:spPr>
          <a:xfrm>
            <a:off x="457200" y="6446520"/>
            <a:ext cx="8229600" cy="320040"/>
          </a:xfrm>
          <a:prstGeom prst="rect">
            <a:avLst/>
          </a:prstGeom>
          <a:noFill/>
        </p:spPr>
        <p:txBody>
          <a:bodyPr wrap="none">
            <a:spAutoFit/>
          </a:bodyPr>
          <a:lstStyle/>
          <a:p>
            <a:pPr algn="r">
              <a:defRPr sz="900">
                <a:solidFill>
                  <a:srgbClr val="374151"/>
                </a:solidFill>
              </a:defRPr>
            </a:pPr>
            <a:r>
              <a:t>PEAT-Nucleate BioHack 2026  |  Lung cancer TME mapping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138160" cy="594360"/>
          </a:xfrm>
          <a:prstGeom prst="rect">
            <a:avLst/>
          </a:prstGeom>
          <a:noFill/>
        </p:spPr>
        <p:txBody>
          <a:bodyPr wrap="none">
            <a:spAutoFit/>
          </a:bodyPr>
          <a:lstStyle/>
          <a:p>
            <a:pPr>
              <a:defRPr sz="3000" b="1">
                <a:solidFill>
                  <a:srgbClr val="FFFFFF"/>
                </a:solidFill>
              </a:defRPr>
            </a:pPr>
            <a:r>
              <a:t>Bulk vs spatial inference</a:t>
            </a:r>
          </a:p>
        </p:txBody>
      </p:sp>
      <p:sp>
        <p:nvSpPr>
          <p:cNvPr id="4" name="TextBox 3"/>
          <p:cNvSpPr txBox="1"/>
          <p:nvPr/>
        </p:nvSpPr>
        <p:spPr>
          <a:xfrm>
            <a:off x="502920" y="713232"/>
            <a:ext cx="8138160" cy="320040"/>
          </a:xfrm>
          <a:prstGeom prst="rect">
            <a:avLst/>
          </a:prstGeom>
          <a:noFill/>
        </p:spPr>
        <p:txBody>
          <a:bodyPr wrap="none">
            <a:spAutoFit/>
          </a:bodyPr>
          <a:lstStyle/>
          <a:p>
            <a:pPr>
              <a:defRPr sz="1400">
                <a:solidFill>
                  <a:srgbClr val="C8DCEB"/>
                </a:solidFill>
              </a:defRPr>
            </a:pPr>
            <a:r>
              <a:t>One slide → whole-patient profile or spatial TME map</a:t>
            </a:r>
          </a:p>
        </p:txBody>
      </p:sp>
      <p:pic>
        <p:nvPicPr>
          <p:cNvPr id="5" name="Picture 4" descr="inference_modes_figure.png"/>
          <p:cNvPicPr>
            <a:picLocks noChangeAspect="1"/>
          </p:cNvPicPr>
          <p:nvPr/>
        </p:nvPicPr>
        <p:blipFill>
          <a:blip r:embed="rId2"/>
          <a:stretch>
            <a:fillRect/>
          </a:stretch>
        </p:blipFill>
        <p:spPr>
          <a:xfrm>
            <a:off x="502920" y="1188720"/>
            <a:ext cx="5258338" cy="5120640"/>
          </a:xfrm>
          <a:prstGeom prst="rect">
            <a:avLst/>
          </a:prstGeom>
        </p:spPr>
      </p:pic>
      <p:sp>
        <p:nvSpPr>
          <p:cNvPr id="6" name="TextBox 5"/>
          <p:cNvSpPr txBox="1"/>
          <p:nvPr/>
        </p:nvSpPr>
        <p:spPr>
          <a:xfrm>
            <a:off x="457200" y="6446520"/>
            <a:ext cx="8229600" cy="320040"/>
          </a:xfrm>
          <a:prstGeom prst="rect">
            <a:avLst/>
          </a:prstGeom>
          <a:noFill/>
        </p:spPr>
        <p:txBody>
          <a:bodyPr wrap="none">
            <a:spAutoFit/>
          </a:bodyPr>
          <a:lstStyle/>
          <a:p>
            <a:pPr algn="r">
              <a:defRPr sz="900">
                <a:solidFill>
                  <a:srgbClr val="374151"/>
                </a:solidFill>
              </a:defRPr>
            </a:pPr>
            <a:r>
              <a:t>PEAT-Nucleate BioHack 2026  |  Lung cancer TME mapping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138160" cy="594360"/>
          </a:xfrm>
          <a:prstGeom prst="rect">
            <a:avLst/>
          </a:prstGeom>
          <a:noFill/>
        </p:spPr>
        <p:txBody>
          <a:bodyPr wrap="none">
            <a:spAutoFit/>
          </a:bodyPr>
          <a:lstStyle/>
          <a:p>
            <a:pPr>
              <a:defRPr sz="3000" b="1">
                <a:solidFill>
                  <a:srgbClr val="FFFFFF"/>
                </a:solidFill>
              </a:defRPr>
            </a:pPr>
            <a:r>
              <a:t>PEAT-Nucleate pipeline (this repo)</a:t>
            </a:r>
          </a:p>
        </p:txBody>
      </p:sp>
      <p:sp>
        <p:nvSpPr>
          <p:cNvPr id="4" name="TextBox 3"/>
          <p:cNvSpPr txBox="1"/>
          <p:nvPr/>
        </p:nvSpPr>
        <p:spPr>
          <a:xfrm>
            <a:off x="502920" y="713232"/>
            <a:ext cx="8138160" cy="320040"/>
          </a:xfrm>
          <a:prstGeom prst="rect">
            <a:avLst/>
          </a:prstGeom>
          <a:noFill/>
        </p:spPr>
        <p:txBody>
          <a:bodyPr wrap="none">
            <a:spAutoFit/>
          </a:bodyPr>
          <a:lstStyle/>
          <a:p>
            <a:pPr>
              <a:defRPr sz="1400">
                <a:solidFill>
                  <a:srgbClr val="C8DCEB"/>
                </a:solidFill>
              </a:defRPr>
            </a:pPr>
            <a:r>
              <a:t>TCGA lung cohort ready to run</a:t>
            </a:r>
          </a:p>
        </p:txBody>
      </p:sp>
      <p:sp>
        <p:nvSpPr>
          <p:cNvPr id="5" name="TextBox 4"/>
          <p:cNvSpPr txBox="1"/>
          <p:nvPr/>
        </p:nvSpPr>
        <p:spPr>
          <a:xfrm>
            <a:off x="594360" y="1325880"/>
            <a:ext cx="7955279" cy="4937760"/>
          </a:xfrm>
          <a:prstGeom prst="rect">
            <a:avLst/>
          </a:prstGeom>
          <a:noFill/>
        </p:spPr>
        <p:txBody>
          <a:bodyPr wrap="square" anchor="t">
            <a:spAutoFit/>
          </a:bodyPr>
          <a:lstStyle/>
          <a:p>
            <a:pPr>
              <a:spcAft>
                <a:spcPts val="1000"/>
              </a:spcAft>
              <a:defRPr sz="1700">
                <a:solidFill>
                  <a:srgbClr val="374151"/>
                </a:solidFill>
              </a:defRPr>
            </a:pPr>
            <a:r>
              <a:t>1,053 diagnostic H&amp;E slides — TCGA-LUAD (541) + TCGA-LUSC (512)</a:t>
            </a:r>
          </a:p>
          <a:p>
            <a:pPr lvl="1">
              <a:spcAft>
                <a:spcPts val="1000"/>
              </a:spcAft>
              <a:defRPr sz="1500">
                <a:solidFill>
                  <a:srgbClr val="374151"/>
                </a:solidFill>
              </a:defRPr>
            </a:pPr>
            <a:r>
              <a:t>~824 GB total; open access; manifests committed in data/tcga_lung/</a:t>
            </a:r>
          </a:p>
          <a:p>
            <a:pPr>
              <a:spcAft>
                <a:spcPts val="1000"/>
              </a:spcAft>
              <a:defRPr sz="1700">
                <a:solidFill>
                  <a:srgbClr val="374151"/>
                </a:solidFill>
              </a:defRPr>
            </a:pPr>
          </a:p>
          <a:p>
            <a:pPr>
              <a:spcAft>
                <a:spcPts val="1000"/>
              </a:spcAft>
              <a:defRPr sz="1700">
                <a:solidFill>
                  <a:srgbClr val="374151"/>
                </a:solidFill>
              </a:defRPr>
            </a:pPr>
            <a:r>
              <a:t>Pipeline:</a:t>
            </a:r>
          </a:p>
          <a:p>
            <a:pPr lvl="1">
              <a:spcAft>
                <a:spcPts val="1000"/>
              </a:spcAft>
              <a:defRPr sz="1500">
                <a:solidFill>
                  <a:srgbClr val="374151"/>
                </a:solidFill>
              </a:defRPr>
            </a:pPr>
            <a:r>
              <a:t>download.py → whole-slide images (.svs)</a:t>
            </a:r>
          </a:p>
          <a:p>
            <a:pPr lvl="1">
              <a:spcAft>
                <a:spcPts val="1000"/>
              </a:spcAft>
              <a:defRPr sz="1500">
                <a:solidFill>
                  <a:srgbClr val="374151"/>
                </a:solidFill>
              </a:defRPr>
            </a:pPr>
            <a:r>
              <a:t>Foundation model embeddings → HDF5 (coords + features)</a:t>
            </a:r>
          </a:p>
          <a:p>
            <a:pPr lvl="1">
              <a:spcAft>
                <a:spcPts val="1000"/>
              </a:spcAft>
              <a:defRPr sz="1500">
                <a:solidFill>
                  <a:srgbClr val="374151"/>
                </a:solidFill>
              </a:defRPr>
            </a:pPr>
            <a:r>
              <a:t>predict_bulk.py / predict_spatial.py → TME signature outputs</a:t>
            </a:r>
          </a:p>
          <a:p>
            <a:pPr lvl="1">
              <a:spcAft>
                <a:spcPts val="1000"/>
              </a:spcAft>
              <a:defRPr sz="1500">
                <a:solidFill>
                  <a:srgbClr val="374151"/>
                </a:solidFill>
              </a:defRPr>
            </a:pPr>
            <a:r>
              <a:t>Link to clinical + mutation metadata for stratified analysis</a:t>
            </a:r>
          </a:p>
          <a:p>
            <a:pPr>
              <a:spcAft>
                <a:spcPts val="1000"/>
              </a:spcAft>
              <a:defRPr sz="1700">
                <a:solidFill>
                  <a:srgbClr val="374151"/>
                </a:solidFill>
              </a:defRPr>
            </a:pPr>
          </a:p>
          <a:p>
            <a:pPr>
              <a:spcAft>
                <a:spcPts val="1000"/>
              </a:spcAft>
              <a:defRPr sz="1700">
                <a:solidFill>
                  <a:srgbClr val="374151"/>
                </a:solidFill>
              </a:defRPr>
            </a:pPr>
            <a:r>
              <a:t>Outputs land in outputs/histotme/ — ready for dashboard (Taylor UI branch)</a:t>
            </a:r>
          </a:p>
        </p:txBody>
      </p:sp>
      <p:sp>
        <p:nvSpPr>
          <p:cNvPr id="6" name="TextBox 5"/>
          <p:cNvSpPr txBox="1"/>
          <p:nvPr/>
        </p:nvSpPr>
        <p:spPr>
          <a:xfrm>
            <a:off x="457200" y="6446520"/>
            <a:ext cx="8229600" cy="320040"/>
          </a:xfrm>
          <a:prstGeom prst="rect">
            <a:avLst/>
          </a:prstGeom>
          <a:noFill/>
        </p:spPr>
        <p:txBody>
          <a:bodyPr wrap="none">
            <a:spAutoFit/>
          </a:bodyPr>
          <a:lstStyle/>
          <a:p>
            <a:pPr algn="r">
              <a:defRPr sz="900">
                <a:solidFill>
                  <a:srgbClr val="374151"/>
                </a:solidFill>
              </a:defRPr>
            </a:pPr>
            <a:r>
              <a:t>PEAT-Nucleate BioHack 2026  |  Lung cancer TME mapping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138160" cy="594360"/>
          </a:xfrm>
          <a:prstGeom prst="rect">
            <a:avLst/>
          </a:prstGeom>
          <a:noFill/>
        </p:spPr>
        <p:txBody>
          <a:bodyPr wrap="none">
            <a:spAutoFit/>
          </a:bodyPr>
          <a:lstStyle/>
          <a:p>
            <a:pPr>
              <a:defRPr sz="3000" b="1">
                <a:solidFill>
                  <a:srgbClr val="FFFFFF"/>
                </a:solidFill>
              </a:defRPr>
            </a:pPr>
            <a:r>
              <a:t>HistoTME + spatial transcriptomics</a:t>
            </a:r>
          </a:p>
        </p:txBody>
      </p:sp>
      <p:sp>
        <p:nvSpPr>
          <p:cNvPr id="4" name="TextBox 3"/>
          <p:cNvSpPr txBox="1"/>
          <p:nvPr/>
        </p:nvSpPr>
        <p:spPr>
          <a:xfrm>
            <a:off x="502920" y="713232"/>
            <a:ext cx="8138160" cy="320040"/>
          </a:xfrm>
          <a:prstGeom prst="rect">
            <a:avLst/>
          </a:prstGeom>
          <a:noFill/>
        </p:spPr>
        <p:txBody>
          <a:bodyPr wrap="none">
            <a:spAutoFit/>
          </a:bodyPr>
          <a:lstStyle/>
          <a:p>
            <a:pPr>
              <a:defRPr sz="1400">
                <a:solidFill>
                  <a:srgbClr val="C8DCEB"/>
                </a:solidFill>
              </a:defRPr>
            </a:pPr>
            <a:r>
              <a:t>Complementary — not competing</a:t>
            </a:r>
          </a:p>
        </p:txBody>
      </p:sp>
      <p:graphicFrame>
        <p:nvGraphicFramePr>
          <p:cNvPr id="5" name="Table 4"/>
          <p:cNvGraphicFramePr>
            <a:graphicFrameLocks noGrp="1"/>
          </p:cNvGraphicFramePr>
          <p:nvPr/>
        </p:nvGraphicFramePr>
        <p:xfrm>
          <a:off x="411480" y="1371600"/>
          <a:ext cx="7406640" cy="4754880"/>
        </p:xfrm>
        <a:graphic>
          <a:graphicData uri="http://schemas.openxmlformats.org/drawingml/2006/table">
            <a:tbl>
              <a:tblPr firstRow="1" bandRow="1">
                <a:tableStyleId>{5C22544A-7EE6-4342-B048-85BDC9FD1C3A}</a:tableStyleId>
              </a:tblPr>
              <a:tblGrid>
                <a:gridCol w="1463040"/>
                <a:gridCol w="2926080"/>
                <a:gridCol w="3017520"/>
              </a:tblGrid>
              <a:tr h="792480">
                <a:tc>
                  <a:txBody>
                    <a:bodyPr/>
                    <a:lstStyle/>
                    <a:p>
                      <a:pPr algn="ctr">
                        <a:defRPr b="1" sz="1100">
                          <a:solidFill>
                            <a:srgbClr val="FFFFFF"/>
                          </a:solidFill>
                        </a:defRPr>
                      </a:pPr>
                    </a:p>
                  </a:txBody>
                  <a:tcPr>
                    <a:solidFill>
                      <a:srgbClr val="003366"/>
                    </a:solidFill>
                  </a:tcPr>
                </a:tc>
                <a:tc>
                  <a:txBody>
                    <a:bodyPr/>
                    <a:lstStyle/>
                    <a:p>
                      <a:pPr algn="ctr">
                        <a:defRPr b="1" sz="1100">
                          <a:solidFill>
                            <a:srgbClr val="FFFFFF"/>
                          </a:solidFill>
                        </a:defRPr>
                      </a:pPr>
                      <a:r>
                        <a:t>Spatial transcriptomics</a:t>
                      </a:r>
                    </a:p>
                  </a:txBody>
                  <a:tcPr>
                    <a:solidFill>
                      <a:srgbClr val="003366"/>
                    </a:solidFill>
                  </a:tcPr>
                </a:tc>
                <a:tc>
                  <a:txBody>
                    <a:bodyPr/>
                    <a:lstStyle/>
                    <a:p>
                      <a:pPr algn="ctr">
                        <a:defRPr b="1" sz="1100">
                          <a:solidFill>
                            <a:srgbClr val="FFFFFF"/>
                          </a:solidFill>
                        </a:defRPr>
                      </a:pPr>
                      <a:r>
                        <a:t>HistoTME on H&amp;E</a:t>
                      </a:r>
                    </a:p>
                  </a:txBody>
                  <a:tcPr>
                    <a:solidFill>
                      <a:srgbClr val="003366"/>
                    </a:solidFill>
                  </a:tcPr>
                </a:tc>
              </a:tr>
              <a:tr h="792480">
                <a:tc>
                  <a:txBody>
                    <a:bodyPr/>
                    <a:lstStyle/>
                    <a:p>
                      <a:pPr>
                        <a:defRPr sz="1000">
                          <a:solidFill>
                            <a:srgbClr val="374151"/>
                          </a:solidFill>
                        </a:defRPr>
                      </a:pPr>
                      <a:r>
                        <a:t>Input</a:t>
                      </a:r>
                    </a:p>
                  </a:txBody>
                  <a:tcPr/>
                </a:tc>
                <a:tc>
                  <a:txBody>
                    <a:bodyPr/>
                    <a:lstStyle/>
                    <a:p>
                      <a:pPr>
                        <a:defRPr sz="1000">
                          <a:solidFill>
                            <a:srgbClr val="374151"/>
                          </a:solidFill>
                        </a:defRPr>
                      </a:pPr>
                      <a:r>
                        <a:t>Fresh/frozen; specialized workflow</a:t>
                      </a:r>
                    </a:p>
                  </a:txBody>
                  <a:tcPr/>
                </a:tc>
                <a:tc>
                  <a:txBody>
                    <a:bodyPr/>
                    <a:lstStyle/>
                    <a:p>
                      <a:pPr>
                        <a:defRPr sz="1000">
                          <a:solidFill>
                            <a:srgbClr val="374151"/>
                          </a:solidFill>
                        </a:defRPr>
                      </a:pPr>
                      <a:r>
                        <a:t>Standard diagnostic H&amp;E</a:t>
                      </a:r>
                    </a:p>
                  </a:txBody>
                  <a:tcPr/>
                </a:tc>
              </a:tr>
              <a:tr h="792480">
                <a:tc>
                  <a:txBody>
                    <a:bodyPr/>
                    <a:lstStyle/>
                    <a:p>
                      <a:pPr>
                        <a:defRPr sz="1000">
                          <a:solidFill>
                            <a:srgbClr val="374151"/>
                          </a:solidFill>
                        </a:defRPr>
                      </a:pPr>
                      <a:r>
                        <a:t>Scale</a:t>
                      </a:r>
                    </a:p>
                  </a:txBody>
                  <a:tcPr>
                    <a:solidFill>
                      <a:srgbClr val="F5F7FA"/>
                    </a:solidFill>
                  </a:tcPr>
                </a:tc>
                <a:tc>
                  <a:txBody>
                    <a:bodyPr/>
                    <a:lstStyle/>
                    <a:p>
                      <a:pPr>
                        <a:defRPr sz="1000">
                          <a:solidFill>
                            <a:srgbClr val="374151"/>
                          </a:solidFill>
                        </a:defRPr>
                      </a:pPr>
                      <a:r>
                        <a:t>Limited spots / FOVs</a:t>
                      </a:r>
                    </a:p>
                  </a:txBody>
                  <a:tcPr>
                    <a:solidFill>
                      <a:srgbClr val="F5F7FA"/>
                    </a:solidFill>
                  </a:tcPr>
                </a:tc>
                <a:tc>
                  <a:txBody>
                    <a:bodyPr/>
                    <a:lstStyle/>
                    <a:p>
                      <a:pPr>
                        <a:defRPr sz="1000">
                          <a:solidFill>
                            <a:srgbClr val="374151"/>
                          </a:solidFill>
                        </a:defRPr>
                      </a:pPr>
                      <a:r>
                        <a:t>Whole slide; 1,000+ TCGA lungs</a:t>
                      </a:r>
                    </a:p>
                  </a:txBody>
                  <a:tcPr>
                    <a:solidFill>
                      <a:srgbClr val="F5F7FA"/>
                    </a:solidFill>
                  </a:tcPr>
                </a:tc>
              </a:tr>
              <a:tr h="792480">
                <a:tc>
                  <a:txBody>
                    <a:bodyPr/>
                    <a:lstStyle/>
                    <a:p>
                      <a:pPr>
                        <a:defRPr sz="1000">
                          <a:solidFill>
                            <a:srgbClr val="374151"/>
                          </a:solidFill>
                        </a:defRPr>
                      </a:pPr>
                      <a:r>
                        <a:t>Cost &amp; time</a:t>
                      </a:r>
                    </a:p>
                  </a:txBody>
                  <a:tcPr/>
                </a:tc>
                <a:tc>
                  <a:txBody>
                    <a:bodyPr/>
                    <a:lstStyle/>
                    <a:p>
                      <a:pPr>
                        <a:defRPr sz="1000">
                          <a:solidFill>
                            <a:srgbClr val="374151"/>
                          </a:solidFill>
                        </a:defRPr>
                      </a:pPr>
                      <a:r>
                        <a:t>High</a:t>
                      </a:r>
                    </a:p>
                  </a:txBody>
                  <a:tcPr/>
                </a:tc>
                <a:tc>
                  <a:txBody>
                    <a:bodyPr/>
                    <a:lstStyle/>
                    <a:p>
                      <a:pPr>
                        <a:defRPr sz="1000">
                          <a:solidFill>
                            <a:srgbClr val="374151"/>
                          </a:solidFill>
                        </a:defRPr>
                      </a:pPr>
                      <a:r>
                        <a:t>Compute-only after slide download</a:t>
                      </a:r>
                    </a:p>
                  </a:txBody>
                  <a:tcPr/>
                </a:tc>
              </a:tr>
              <a:tr h="792480">
                <a:tc>
                  <a:txBody>
                    <a:bodyPr/>
                    <a:lstStyle/>
                    <a:p>
                      <a:pPr>
                        <a:defRPr sz="1000">
                          <a:solidFill>
                            <a:srgbClr val="374151"/>
                          </a:solidFill>
                        </a:defRPr>
                      </a:pPr>
                      <a:r>
                        <a:t>Output</a:t>
                      </a:r>
                    </a:p>
                  </a:txBody>
                  <a:tcPr>
                    <a:solidFill>
                      <a:srgbClr val="F5F7FA"/>
                    </a:solidFill>
                  </a:tcPr>
                </a:tc>
                <a:tc>
                  <a:txBody>
                    <a:bodyPr/>
                    <a:lstStyle/>
                    <a:p>
                      <a:pPr>
                        <a:defRPr sz="1000">
                          <a:solidFill>
                            <a:srgbClr val="374151"/>
                          </a:solidFill>
                        </a:defRPr>
                      </a:pPr>
                      <a:r>
                        <a:t>Measured genes at locations</a:t>
                      </a:r>
                    </a:p>
                  </a:txBody>
                  <a:tcPr>
                    <a:solidFill>
                      <a:srgbClr val="F5F7FA"/>
                    </a:solidFill>
                  </a:tcPr>
                </a:tc>
                <a:tc>
                  <a:txBody>
                    <a:bodyPr/>
                    <a:lstStyle/>
                    <a:p>
                      <a:pPr>
                        <a:defRPr sz="1000">
                          <a:solidFill>
                            <a:srgbClr val="374151"/>
                          </a:solidFill>
                        </a:defRPr>
                      </a:pPr>
                      <a:r>
                        <a:t>Predicted signature activity per tile</a:t>
                      </a:r>
                    </a:p>
                  </a:txBody>
                  <a:tcPr>
                    <a:solidFill>
                      <a:srgbClr val="F5F7FA"/>
                    </a:solidFill>
                  </a:tcPr>
                </a:tc>
              </a:tr>
              <a:tr h="792480">
                <a:tc>
                  <a:txBody>
                    <a:bodyPr/>
                    <a:lstStyle/>
                    <a:p>
                      <a:pPr>
                        <a:defRPr sz="1000">
                          <a:solidFill>
                            <a:srgbClr val="374151"/>
                          </a:solidFill>
                        </a:defRPr>
                      </a:pPr>
                      <a:r>
                        <a:t>Best role</a:t>
                      </a:r>
                    </a:p>
                  </a:txBody>
                  <a:tcPr/>
                </a:tc>
                <a:tc>
                  <a:txBody>
                    <a:bodyPr/>
                    <a:lstStyle/>
                    <a:p>
                      <a:pPr>
                        <a:defRPr sz="1000">
                          <a:solidFill>
                            <a:srgbClr val="374151"/>
                          </a:solidFill>
                        </a:defRPr>
                      </a:pPr>
                      <a:r>
                        <a:t>Mechanistic ground truth</a:t>
                      </a:r>
                    </a:p>
                  </a:txBody>
                  <a:tcPr/>
                </a:tc>
                <a:tc>
                  <a:txBody>
                    <a:bodyPr/>
                    <a:lstStyle/>
                    <a:p>
                      <a:pPr>
                        <a:defRPr sz="1000">
                          <a:solidFill>
                            <a:srgbClr val="374151"/>
                          </a:solidFill>
                        </a:defRPr>
                      </a:pPr>
                      <a:r>
                        <a:t>Trial-scale screening &amp; stratification</a:t>
                      </a:r>
                    </a:p>
                  </a:txBody>
                  <a:tcPr/>
                </a:tc>
              </a:tr>
            </a:tbl>
          </a:graphicData>
        </a:graphic>
      </p:graphicFrame>
      <p:sp>
        <p:nvSpPr>
          <p:cNvPr id="6" name="TextBox 5"/>
          <p:cNvSpPr txBox="1"/>
          <p:nvPr/>
        </p:nvSpPr>
        <p:spPr>
          <a:xfrm>
            <a:off x="457200" y="5989320"/>
            <a:ext cx="8229600" cy="502920"/>
          </a:xfrm>
          <a:prstGeom prst="rect">
            <a:avLst/>
          </a:prstGeom>
          <a:noFill/>
        </p:spPr>
        <p:txBody>
          <a:bodyPr wrap="none">
            <a:spAutoFit/>
          </a:bodyPr>
          <a:lstStyle/>
          <a:p>
            <a:pPr>
              <a:defRPr sz="1300" i="1">
                <a:solidFill>
                  <a:srgbClr val="008080"/>
                </a:solidFill>
              </a:defRPr>
            </a:pPr>
            <a:r>
              <a:t>Workflow: HistoTME screens the cohort → spatial transcriptomics validates on a focused subset</a:t>
            </a:r>
          </a:p>
        </p:txBody>
      </p:sp>
      <p:sp>
        <p:nvSpPr>
          <p:cNvPr id="7" name="TextBox 6"/>
          <p:cNvSpPr txBox="1"/>
          <p:nvPr/>
        </p:nvSpPr>
        <p:spPr>
          <a:xfrm>
            <a:off x="457200" y="6446520"/>
            <a:ext cx="8229600" cy="320040"/>
          </a:xfrm>
          <a:prstGeom prst="rect">
            <a:avLst/>
          </a:prstGeom>
          <a:noFill/>
        </p:spPr>
        <p:txBody>
          <a:bodyPr wrap="none">
            <a:spAutoFit/>
          </a:bodyPr>
          <a:lstStyle/>
          <a:p>
            <a:pPr algn="r">
              <a:defRPr sz="900">
                <a:solidFill>
                  <a:srgbClr val="374151"/>
                </a:solidFill>
              </a:defRPr>
            </a:pPr>
            <a:r>
              <a:t>PEAT-Nucleate BioHack 2026  |  Lung cancer TME mapping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138160" cy="594360"/>
          </a:xfrm>
          <a:prstGeom prst="rect">
            <a:avLst/>
          </a:prstGeom>
          <a:noFill/>
        </p:spPr>
        <p:txBody>
          <a:bodyPr wrap="none">
            <a:spAutoFit/>
          </a:bodyPr>
          <a:lstStyle/>
          <a:p>
            <a:pPr>
              <a:defRPr sz="3000" b="1">
                <a:solidFill>
                  <a:srgbClr val="FFFFFF"/>
                </a:solidFill>
              </a:defRPr>
            </a:pPr>
            <a:r>
              <a:t>Proposed analysis</a:t>
            </a:r>
          </a:p>
        </p:txBody>
      </p:sp>
      <p:sp>
        <p:nvSpPr>
          <p:cNvPr id="4" name="TextBox 3"/>
          <p:cNvSpPr txBox="1"/>
          <p:nvPr/>
        </p:nvSpPr>
        <p:spPr>
          <a:xfrm>
            <a:off x="502920" y="713232"/>
            <a:ext cx="8138160" cy="320040"/>
          </a:xfrm>
          <a:prstGeom prst="rect">
            <a:avLst/>
          </a:prstGeom>
          <a:noFill/>
        </p:spPr>
        <p:txBody>
          <a:bodyPr wrap="none">
            <a:spAutoFit/>
          </a:bodyPr>
          <a:lstStyle/>
          <a:p>
            <a:pPr>
              <a:defRPr sz="1400">
                <a:solidFill>
                  <a:srgbClr val="C8DCEB"/>
                </a:solidFill>
              </a:defRPr>
            </a:pPr>
            <a:r>
              <a:t>Test the hypothesis on TCGA lung</a:t>
            </a:r>
          </a:p>
        </p:txBody>
      </p:sp>
      <p:sp>
        <p:nvSpPr>
          <p:cNvPr id="5" name="TextBox 4"/>
          <p:cNvSpPr txBox="1"/>
          <p:nvPr/>
        </p:nvSpPr>
        <p:spPr>
          <a:xfrm>
            <a:off x="594360" y="1325880"/>
            <a:ext cx="7955279" cy="4937760"/>
          </a:xfrm>
          <a:prstGeom prst="rect">
            <a:avLst/>
          </a:prstGeom>
          <a:noFill/>
        </p:spPr>
        <p:txBody>
          <a:bodyPr wrap="square" anchor="t">
            <a:spAutoFit/>
          </a:bodyPr>
          <a:lstStyle/>
          <a:p>
            <a:pPr>
              <a:spcAft>
                <a:spcPts val="1000"/>
              </a:spcAft>
              <a:defRPr sz="1700">
                <a:solidFill>
                  <a:srgbClr val="374151"/>
                </a:solidFill>
              </a:defRPr>
            </a:pPr>
            <a:r>
              <a:t>Stratify patients by driver mutation (EGFR, ALK, KRAS, wild-type)</a:t>
            </a:r>
          </a:p>
          <a:p>
            <a:pPr>
              <a:spcAft>
                <a:spcPts val="1000"/>
              </a:spcAft>
              <a:defRPr sz="1700">
                <a:solidFill>
                  <a:srgbClr val="374151"/>
                </a:solidFill>
              </a:defRPr>
            </a:pPr>
            <a:r>
              <a:t>Run HistoTME bulk + spatial on diagnostic H&amp;E slides</a:t>
            </a:r>
          </a:p>
          <a:p>
            <a:pPr>
              <a:spcAft>
                <a:spcPts val="1000"/>
              </a:spcAft>
              <a:defRPr sz="1700">
                <a:solidFill>
                  <a:srgbClr val="374151"/>
                </a:solidFill>
              </a:defRPr>
            </a:pPr>
            <a:r>
              <a:t>Cluster into TME archetypes (immune desert, inflamed, stroma-high, myeloid-rich)</a:t>
            </a:r>
          </a:p>
          <a:p>
            <a:pPr>
              <a:spcAft>
                <a:spcPts val="1000"/>
              </a:spcAft>
              <a:defRPr sz="1700">
                <a:solidFill>
                  <a:srgbClr val="374151"/>
                </a:solidFill>
              </a:defRPr>
            </a:pPr>
            <a:r>
              <a:t>Compare TME states within each mutation stratum</a:t>
            </a:r>
          </a:p>
          <a:p>
            <a:pPr>
              <a:spcAft>
                <a:spcPts val="1000"/>
              </a:spcAft>
              <a:defRPr sz="1700">
                <a:solidFill>
                  <a:srgbClr val="374151"/>
                </a:solidFill>
              </a:defRPr>
            </a:pPr>
          </a:p>
          <a:p>
            <a:pPr>
              <a:spcAft>
                <a:spcPts val="1000"/>
              </a:spcAft>
              <a:defRPr sz="1700">
                <a:solidFill>
                  <a:srgbClr val="374151"/>
                </a:solidFill>
              </a:defRPr>
            </a:pPr>
            <a:r>
              <a:t>Retrospective trial framing:</a:t>
            </a:r>
          </a:p>
          <a:p>
            <a:pPr lvl="1">
              <a:spcAft>
                <a:spcPts val="1000"/>
              </a:spcAft>
              <a:defRPr sz="1500">
                <a:solidFill>
                  <a:srgbClr val="374151"/>
                </a:solidFill>
              </a:defRPr>
            </a:pPr>
            <a:r>
              <a:t>Do non-responders in mutation-positive trials show distinct spatial TME maps?</a:t>
            </a:r>
          </a:p>
          <a:p>
            <a:pPr lvl="1">
              <a:spcAft>
                <a:spcPts val="1000"/>
              </a:spcAft>
              <a:defRPr sz="1500">
                <a:solidFill>
                  <a:srgbClr val="374151"/>
                </a:solidFill>
              </a:defRPr>
            </a:pPr>
            <a:r>
              <a:t>Can TME archetype explain heterogeneity that mutation status alone cannot?</a:t>
            </a:r>
          </a:p>
          <a:p>
            <a:pPr>
              <a:spcAft>
                <a:spcPts val="1000"/>
              </a:spcAft>
              <a:defRPr sz="1700">
                <a:solidFill>
                  <a:srgbClr val="374151"/>
                </a:solidFill>
              </a:defRPr>
            </a:pPr>
          </a:p>
          <a:p>
            <a:pPr>
              <a:spcAft>
                <a:spcPts val="1000"/>
              </a:spcAft>
              <a:defRPr sz="1700">
                <a:solidFill>
                  <a:srgbClr val="374151"/>
                </a:solidFill>
              </a:defRPr>
            </a:pPr>
            <a:r>
              <a:t>Validate signature maps against public spatial transcriptomics lung datasets</a:t>
            </a:r>
          </a:p>
        </p:txBody>
      </p:sp>
      <p:sp>
        <p:nvSpPr>
          <p:cNvPr id="6" name="TextBox 5"/>
          <p:cNvSpPr txBox="1"/>
          <p:nvPr/>
        </p:nvSpPr>
        <p:spPr>
          <a:xfrm>
            <a:off x="457200" y="6446520"/>
            <a:ext cx="8229600" cy="320040"/>
          </a:xfrm>
          <a:prstGeom prst="rect">
            <a:avLst/>
          </a:prstGeom>
          <a:noFill/>
        </p:spPr>
        <p:txBody>
          <a:bodyPr wrap="none">
            <a:spAutoFit/>
          </a:bodyPr>
          <a:lstStyle/>
          <a:p>
            <a:pPr algn="r">
              <a:defRPr sz="900">
                <a:solidFill>
                  <a:srgbClr val="374151"/>
                </a:solidFill>
              </a:defRPr>
            </a:pPr>
            <a:r>
              <a:t>PEAT-Nucleate BioHack 2026  |  Lung cancer TME mapping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138160" cy="594360"/>
          </a:xfrm>
          <a:prstGeom prst="rect">
            <a:avLst/>
          </a:prstGeom>
          <a:noFill/>
        </p:spPr>
        <p:txBody>
          <a:bodyPr wrap="none">
            <a:spAutoFit/>
          </a:bodyPr>
          <a:lstStyle/>
          <a:p>
            <a:pPr>
              <a:defRPr sz="3000" b="1">
                <a:solidFill>
                  <a:srgbClr val="FFFFFF"/>
                </a:solidFill>
              </a:defRPr>
            </a:pPr>
            <a:r>
              <a:t>BioHack deliverables</a:t>
            </a:r>
          </a:p>
        </p:txBody>
      </p:sp>
      <p:sp>
        <p:nvSpPr>
          <p:cNvPr id="4" name="TextBox 3"/>
          <p:cNvSpPr txBox="1"/>
          <p:nvPr/>
        </p:nvSpPr>
        <p:spPr>
          <a:xfrm>
            <a:off x="502920" y="713232"/>
            <a:ext cx="8138160" cy="320040"/>
          </a:xfrm>
          <a:prstGeom prst="rect">
            <a:avLst/>
          </a:prstGeom>
          <a:noFill/>
        </p:spPr>
        <p:txBody>
          <a:bodyPr wrap="none">
            <a:spAutoFit/>
          </a:bodyPr>
          <a:lstStyle/>
          <a:p>
            <a:pPr>
              <a:defRPr sz="1400">
                <a:solidFill>
                  <a:srgbClr val="C8DCEB"/>
                </a:solidFill>
              </a:defRPr>
            </a:pPr>
            <a:r>
              <a:t>What we will show live</a:t>
            </a:r>
          </a:p>
        </p:txBody>
      </p:sp>
      <p:sp>
        <p:nvSpPr>
          <p:cNvPr id="5" name="TextBox 4"/>
          <p:cNvSpPr txBox="1"/>
          <p:nvPr/>
        </p:nvSpPr>
        <p:spPr>
          <a:xfrm>
            <a:off x="594360" y="1325880"/>
            <a:ext cx="7955279" cy="4937760"/>
          </a:xfrm>
          <a:prstGeom prst="rect">
            <a:avLst/>
          </a:prstGeom>
          <a:noFill/>
        </p:spPr>
        <p:txBody>
          <a:bodyPr wrap="square" anchor="t">
            <a:spAutoFit/>
          </a:bodyPr>
          <a:lstStyle/>
          <a:p>
            <a:pPr>
              <a:spcAft>
                <a:spcPts val="1000"/>
              </a:spcAft>
              <a:defRPr sz="1800">
                <a:solidFill>
                  <a:srgbClr val="374151"/>
                </a:solidFill>
              </a:defRPr>
            </a:pPr>
            <a:r>
              <a:t>Pilot TCGA lung download (3–10 slides) + tissue thumbnails</a:t>
            </a:r>
          </a:p>
          <a:p>
            <a:pPr>
              <a:spcAft>
                <a:spcPts val="1000"/>
              </a:spcAft>
              <a:defRPr sz="1800">
                <a:solidFill>
                  <a:srgbClr val="374151"/>
                </a:solidFill>
              </a:defRPr>
            </a:pPr>
            <a:r>
              <a:t>HistoTME bulk predictions for LUAD/LUSC pilot cohort</a:t>
            </a:r>
          </a:p>
          <a:p>
            <a:pPr>
              <a:spcAft>
                <a:spcPts val="1000"/>
              </a:spcAft>
              <a:defRPr sz="1800">
                <a:solidFill>
                  <a:srgbClr val="374151"/>
                </a:solidFill>
              </a:defRPr>
            </a:pPr>
            <a:r>
              <a:t>Spatial heatmaps for 2–3 exemplar slides (Treg, Macrophages, Effector_cells)</a:t>
            </a:r>
          </a:p>
          <a:p>
            <a:pPr>
              <a:spcAft>
                <a:spcPts val="1000"/>
              </a:spcAft>
              <a:defRPr sz="1800">
                <a:solidFill>
                  <a:srgbClr val="374151"/>
                </a:solidFill>
              </a:defRPr>
            </a:pPr>
            <a:r>
              <a:t>Mutation-stratified TME cluster comparison (EGFR vs KRAS vs WT)</a:t>
            </a:r>
          </a:p>
          <a:p>
            <a:pPr>
              <a:spcAft>
                <a:spcPts val="1000"/>
              </a:spcAft>
              <a:defRPr sz="1800">
                <a:solidFill>
                  <a:srgbClr val="374151"/>
                </a:solidFill>
              </a:defRPr>
            </a:pPr>
            <a:r>
              <a:t>Dashboard mock-up: slide browser + TME overlay (Taylor UI branch)</a:t>
            </a:r>
          </a:p>
          <a:p>
            <a:pPr>
              <a:spcAft>
                <a:spcPts val="1000"/>
              </a:spcAft>
              <a:defRPr sz="1800">
                <a:solidFill>
                  <a:srgbClr val="374151"/>
                </a:solidFill>
              </a:defRPr>
            </a:pPr>
          </a:p>
          <a:p>
            <a:pPr>
              <a:spcAft>
                <a:spcPts val="1000"/>
              </a:spcAft>
              <a:defRPr sz="1800">
                <a:solidFill>
                  <a:srgbClr val="374151"/>
                </a:solidFill>
              </a:defRPr>
            </a:pPr>
            <a:r>
              <a:t>Stretch goal: correlate HistoTME signatures with spatial transcriptomics public data</a:t>
            </a:r>
          </a:p>
        </p:txBody>
      </p:sp>
      <p:sp>
        <p:nvSpPr>
          <p:cNvPr id="6" name="TextBox 5"/>
          <p:cNvSpPr txBox="1"/>
          <p:nvPr/>
        </p:nvSpPr>
        <p:spPr>
          <a:xfrm>
            <a:off x="457200" y="6446520"/>
            <a:ext cx="8229600" cy="320040"/>
          </a:xfrm>
          <a:prstGeom prst="rect">
            <a:avLst/>
          </a:prstGeom>
          <a:noFill/>
        </p:spPr>
        <p:txBody>
          <a:bodyPr wrap="none">
            <a:spAutoFit/>
          </a:bodyPr>
          <a:lstStyle/>
          <a:p>
            <a:pPr algn="r">
              <a:defRPr sz="900">
                <a:solidFill>
                  <a:srgbClr val="374151"/>
                </a:solidFill>
              </a:defRPr>
            </a:pPr>
            <a:r>
              <a:t>PEAT-Nucleate BioHack 2026  |  Lung cancer TME mapping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685800" y="1097280"/>
            <a:ext cx="7772400" cy="4114800"/>
          </a:xfrm>
          <a:prstGeom prst="rect">
            <a:avLst/>
          </a:prstGeom>
          <a:noFill/>
        </p:spPr>
        <p:txBody>
          <a:bodyPr wrap="none">
            <a:spAutoFit/>
          </a:bodyPr>
          <a:lstStyle/>
          <a:p>
            <a:pPr>
              <a:spcAft>
                <a:spcPts val="800"/>
              </a:spcAft>
              <a:defRPr sz="3600" b="1">
                <a:solidFill>
                  <a:srgbClr val="FFFFFF"/>
                </a:solidFill>
              </a:defRPr>
            </a:pPr>
            <a:r>
              <a:t>Impact</a:t>
            </a:r>
          </a:p>
          <a:p>
            <a:pPr>
              <a:spcAft>
                <a:spcPts val="800"/>
              </a:spcAft>
              <a:defRPr sz="600">
                <a:solidFill>
                  <a:srgbClr val="FFFFFF"/>
                </a:solidFill>
              </a:defRPr>
            </a:pPr>
          </a:p>
          <a:p>
            <a:pPr>
              <a:spcAft>
                <a:spcPts val="800"/>
              </a:spcAft>
              <a:defRPr sz="2000">
                <a:solidFill>
                  <a:srgbClr val="FFFFFF"/>
                </a:solidFill>
              </a:defRPr>
            </a:pPr>
            <a:r>
              <a:t>• Enrich future targeted-therapy and combination trials by TME — not mutation alone</a:t>
            </a:r>
          </a:p>
          <a:p>
            <a:pPr>
              <a:spcAft>
                <a:spcPts val="800"/>
              </a:spcAft>
              <a:defRPr sz="2000">
                <a:solidFill>
                  <a:srgbClr val="FFFFFF"/>
                </a:solidFill>
              </a:defRPr>
            </a:pPr>
            <a:r>
              <a:t>• Explain post-hoc why mutation-positive trials underperform in subsets</a:t>
            </a:r>
          </a:p>
          <a:p>
            <a:pPr>
              <a:spcAft>
                <a:spcPts val="800"/>
              </a:spcAft>
              <a:defRPr sz="2000">
                <a:solidFill>
                  <a:srgbClr val="FFFFFF"/>
                </a:solidFill>
              </a:defRPr>
            </a:pPr>
            <a:r>
              <a:t>• Use existing H&amp;E biobanks — no new biopsy protocol required for screening</a:t>
            </a:r>
          </a:p>
          <a:p>
            <a:pPr>
              <a:spcAft>
                <a:spcPts val="800"/>
              </a:spcAft>
              <a:defRPr sz="2000">
                <a:solidFill>
                  <a:srgbClr val="FFFFFF"/>
                </a:solidFill>
              </a:defRPr>
            </a:pPr>
            <a:r>
              <a:t>• Bridge to spatial transcriptomics for mechanistic validation</a:t>
            </a:r>
          </a:p>
          <a:p>
            <a:pPr>
              <a:spcAft>
                <a:spcPts val="800"/>
              </a:spcAft>
              <a:defRPr sz="600">
                <a:solidFill>
                  <a:srgbClr val="FFFFFF"/>
                </a:solidFill>
              </a:defRPr>
            </a:pPr>
          </a:p>
          <a:p>
            <a:pPr>
              <a:spcAft>
                <a:spcPts val="800"/>
              </a:spcAft>
              <a:defRPr sz="2200" i="1">
                <a:solidFill>
                  <a:srgbClr val="FFFFFF"/>
                </a:solidFill>
              </a:defRPr>
            </a:pPr>
            <a:r>
              <a:t>Mutation is the lock. TME is whether the key turns.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138160" cy="594360"/>
          </a:xfrm>
          <a:prstGeom prst="rect">
            <a:avLst/>
          </a:prstGeom>
          <a:noFill/>
        </p:spPr>
        <p:txBody>
          <a:bodyPr wrap="none">
            <a:spAutoFit/>
          </a:bodyPr>
          <a:lstStyle/>
          <a:p>
            <a:pPr>
              <a:defRPr sz="3000" b="1">
                <a:solidFill>
                  <a:srgbClr val="FFFFFF"/>
                </a:solidFill>
              </a:defRPr>
            </a:pPr>
            <a:r>
              <a:t>Key references</a:t>
            </a:r>
          </a:p>
        </p:txBody>
      </p:sp>
      <p:sp>
        <p:nvSpPr>
          <p:cNvPr id="4" name="TextBox 3"/>
          <p:cNvSpPr txBox="1"/>
          <p:nvPr/>
        </p:nvSpPr>
        <p:spPr>
          <a:xfrm>
            <a:off x="594360" y="1325880"/>
            <a:ext cx="7955279" cy="4937760"/>
          </a:xfrm>
          <a:prstGeom prst="rect">
            <a:avLst/>
          </a:prstGeom>
          <a:noFill/>
        </p:spPr>
        <p:txBody>
          <a:bodyPr wrap="square" anchor="t">
            <a:spAutoFit/>
          </a:bodyPr>
          <a:lstStyle/>
          <a:p>
            <a:pPr>
              <a:spcAft>
                <a:spcPts val="1000"/>
              </a:spcAft>
              <a:defRPr sz="1500">
                <a:solidFill>
                  <a:srgbClr val="374151"/>
                </a:solidFill>
              </a:defRPr>
            </a:pPr>
            <a:r>
              <a:t>Patkar et al. NPJ Precision Oncology 2024 — HistoTME NSCLC / ICI</a:t>
            </a:r>
          </a:p>
          <a:p>
            <a:pPr>
              <a:spcAft>
                <a:spcPts val="1000"/>
              </a:spcAft>
              <a:defRPr sz="1500">
                <a:solidFill>
                  <a:srgbClr val="374151"/>
                </a:solidFill>
              </a:defRPr>
            </a:pPr>
            <a:r>
              <a:t>HistoTMEv2 preprint (2025) — pan-cancer extension</a:t>
            </a:r>
          </a:p>
          <a:p>
            <a:pPr>
              <a:spcAft>
                <a:spcPts val="1000"/>
              </a:spcAft>
              <a:defRPr sz="1500">
                <a:solidFill>
                  <a:srgbClr val="374151"/>
                </a:solidFill>
              </a:defRPr>
            </a:pPr>
            <a:r>
              <a:t>Yang et al. J Clin Oncol 2024 — KEYNOTE-789 (EGFR+ post-TKI)</a:t>
            </a:r>
          </a:p>
          <a:p>
            <a:pPr>
              <a:spcAft>
                <a:spcPts val="1000"/>
              </a:spcAft>
              <a:defRPr sz="1500">
                <a:solidFill>
                  <a:srgbClr val="374151"/>
                </a:solidFill>
              </a:defRPr>
            </a:pPr>
            <a:r>
              <a:t>de Langen et al. Lancet 2023 — CodeBreaK 200 (KRAS G12C)</a:t>
            </a:r>
          </a:p>
          <a:p>
            <a:pPr>
              <a:spcAft>
                <a:spcPts val="1000"/>
              </a:spcAft>
              <a:defRPr sz="1500">
                <a:solidFill>
                  <a:srgbClr val="374151"/>
                </a:solidFill>
              </a:defRPr>
            </a:pPr>
            <a:r>
              <a:t>Tsai et al. JCI — KRAS G12Ci resistance &amp; TME remodeling</a:t>
            </a:r>
          </a:p>
          <a:p>
            <a:pPr>
              <a:spcAft>
                <a:spcPts val="1000"/>
              </a:spcAft>
              <a:defRPr sz="1500">
                <a:solidFill>
                  <a:srgbClr val="374151"/>
                </a:solidFill>
              </a:defRPr>
            </a:pPr>
            <a:r>
              <a:t>Nature Reviews Clinical Oncology 2025 — NSCLC TME crosstalk</a:t>
            </a:r>
          </a:p>
          <a:p>
            <a:pPr>
              <a:spcAft>
                <a:spcPts val="1000"/>
              </a:spcAft>
              <a:defRPr sz="1500">
                <a:solidFill>
                  <a:srgbClr val="374151"/>
                </a:solidFill>
              </a:defRPr>
            </a:pPr>
            <a:r>
              <a:t>Repo: github.com/aonkondey01/PEAT-Nucleate-BIoHack-2026</a:t>
            </a:r>
          </a:p>
        </p:txBody>
      </p:sp>
      <p:sp>
        <p:nvSpPr>
          <p:cNvPr id="5" name="TextBox 4"/>
          <p:cNvSpPr txBox="1"/>
          <p:nvPr/>
        </p:nvSpPr>
        <p:spPr>
          <a:xfrm>
            <a:off x="457200" y="6446520"/>
            <a:ext cx="8229600" cy="320040"/>
          </a:xfrm>
          <a:prstGeom prst="rect">
            <a:avLst/>
          </a:prstGeom>
          <a:noFill/>
        </p:spPr>
        <p:txBody>
          <a:bodyPr wrap="none">
            <a:spAutoFit/>
          </a:bodyPr>
          <a:lstStyle/>
          <a:p>
            <a:pPr algn="r">
              <a:defRPr sz="900">
                <a:solidFill>
                  <a:srgbClr val="374151"/>
                </a:solidFill>
              </a:defRPr>
            </a:pPr>
            <a:r>
              <a:t>PEAT-Nucleate BioHack 2026  |  Lung cancer TME mapping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8080"/>
        </a:solidFill>
        <a:effectLst/>
      </p:bgPr>
    </p:bg>
    <p:spTree>
      <p:nvGrpSpPr>
        <p:cNvPr id="1" name=""/>
        <p:cNvGrpSpPr/>
        <p:nvPr/>
      </p:nvGrpSpPr>
      <p:grpSpPr/>
      <p:sp>
        <p:nvSpPr>
          <p:cNvPr id="2" name="TextBox 1"/>
          <p:cNvSpPr txBox="1"/>
          <p:nvPr/>
        </p:nvSpPr>
        <p:spPr>
          <a:xfrm>
            <a:off x="914400" y="2286000"/>
            <a:ext cx="7315200" cy="1828800"/>
          </a:xfrm>
          <a:prstGeom prst="rect">
            <a:avLst/>
          </a:prstGeom>
          <a:noFill/>
        </p:spPr>
        <p:txBody>
          <a:bodyPr wrap="none">
            <a:spAutoFit/>
          </a:bodyPr>
          <a:lstStyle/>
          <a:p>
            <a:pPr algn="ctr">
              <a:defRPr sz="4800" b="1">
                <a:solidFill>
                  <a:srgbClr val="FFFFFF"/>
                </a:solidFill>
              </a:defRPr>
            </a:pPr>
            <a:r>
              <a:t>Thank you</a:t>
            </a:r>
          </a:p>
        </p:txBody>
      </p:sp>
      <p:sp>
        <p:nvSpPr>
          <p:cNvPr id="3" name="TextBox 2"/>
          <p:cNvSpPr txBox="1"/>
          <p:nvPr/>
        </p:nvSpPr>
        <p:spPr>
          <a:xfrm>
            <a:off x="914400" y="3840480"/>
            <a:ext cx="7315200" cy="1097280"/>
          </a:xfrm>
          <a:prstGeom prst="rect">
            <a:avLst/>
          </a:prstGeom>
          <a:noFill/>
        </p:spPr>
        <p:txBody>
          <a:bodyPr wrap="none">
            <a:spAutoFit/>
          </a:bodyPr>
          <a:lstStyle/>
          <a:p>
            <a:pPr algn="ctr">
              <a:defRPr sz="2000">
                <a:solidFill>
                  <a:srgbClr val="FFFFFF"/>
                </a:solidFill>
              </a:defRPr>
            </a:pPr>
            <a:r>
              <a:t>Questions?</a:t>
            </a:r>
          </a:p>
          <a:p>
            <a:pPr algn="ctr">
              <a:defRPr sz="1600">
                <a:solidFill>
                  <a:srgbClr val="FFFFFF"/>
                </a:solidFill>
              </a:defRPr>
            </a:pPr>
            <a:r>
              <a:t>PEAT-Nucleate BioHack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