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>
        <p:scale>
          <a:sx n="109" d="100"/>
          <a:sy n="109" d="100"/>
        </p:scale>
        <p:origin x="1744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503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103120"/>
            <a:ext cx="6400800" cy="6400800"/>
          </a:xfrm>
          <a:prstGeom prst="ellipse">
            <a:avLst/>
          </a:prstGeom>
          <a:solidFill>
            <a:srgbClr val="00B4A6">
              <a:alpha val="6000"/>
            </a:srgbClr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00B4A6">
              <a:alpha val="10000"/>
            </a:srgbClr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9456" y="0"/>
            <a:ext cx="45720" cy="5143500"/>
          </a:xfrm>
          <a:prstGeom prst="rect">
            <a:avLst/>
          </a:prstGeom>
          <a:solidFill>
            <a:srgbClr val="007F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Mutation.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Outcome.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594360" y="2523744"/>
            <a:ext cx="4389120" cy="32004"/>
          </a:xfrm>
          <a:prstGeom prst="rect">
            <a:avLst/>
          </a:prstGeom>
          <a:solidFill>
            <a:srgbClr val="007F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67004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40D99B"/>
                </a:solidFill>
              </a:rPr>
              <a:t>SpatialMTB</a:t>
            </a:r>
            <a:r>
              <a:rPr lang="en-US" sz="1600" b="1" dirty="0">
                <a:solidFill>
                  <a:srgbClr val="40D99B"/>
                </a:solidFill>
              </a:rPr>
              <a:t>: a virtual molecular tumor board from one H&amp;E slide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886200"/>
            <a:ext cx="1965960" cy="457200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3904488"/>
            <a:ext cx="1819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HistoTME · 29 TME Signatures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15768" y="3886200"/>
            <a:ext cx="1965960" cy="457200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88920" y="3904488"/>
            <a:ext cx="1819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· Virtual Spatial Tx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37176" y="3886200"/>
            <a:ext cx="1965960" cy="457200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0328" y="3904488"/>
            <a:ext cx="1819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GigaTIME · Virtual mIF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958584" y="3886200"/>
            <a:ext cx="1965960" cy="457200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31736" y="3904488"/>
            <a:ext cx="1819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Tumor Board Agent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46634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PEAT-Nucleate BioHack 2026  •  TCGA Lung Cohort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Problem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2743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panels are necessary — but not sufficient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411480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128016" cy="1627632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2984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2416" y="12435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design by driver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1645920"/>
            <a:ext cx="3767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trials enroll by mutation: EGFR, ALK, KRAS G12C, MET, RET — but responses vary wildly within each group.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26864" y="1115568"/>
            <a:ext cx="411480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26864" y="1115568"/>
            <a:ext cx="128016" cy="1627632"/>
          </a:xfrm>
          <a:prstGeom prst="rect">
            <a:avLst/>
          </a:prstGeom>
          <a:solidFill>
            <a:srgbClr val="E840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29844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12435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median benefit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46320" y="1645920"/>
            <a:ext cx="3767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targeted responses can be strong, yet resistance emerges. Median PFS in most trials: 6–12 months.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7472" y="2926080"/>
            <a:ext cx="411480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47472" y="2926080"/>
            <a:ext cx="128016" cy="162763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1089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42416" y="3054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Resistance is not just DNA </a:t>
            </a:r>
          </a:p>
        </p:txBody>
      </p:sp>
      <p:sp>
        <p:nvSpPr>
          <p:cNvPr id="19" name="Text 14"/>
          <p:cNvSpPr/>
          <p:nvPr/>
        </p:nvSpPr>
        <p:spPr>
          <a:xfrm>
            <a:off x="566928" y="3456432"/>
            <a:ext cx="3767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mutations matter, but so do pathway rewiring, lineage plasticity, stress programs and spatial niches. 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26864" y="2926080"/>
            <a:ext cx="411480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626864" y="2926080"/>
            <a:ext cx="128016" cy="162763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1089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21808" y="3054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mask heterogeneity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46320" y="3456432"/>
            <a:ext cx="3767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Readouts report means for 'EGFR+' — concealing the subset that responds vs. the subset that doesn't.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47472" y="4645152"/>
            <a:ext cx="8449056" cy="347472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47472" y="4645152"/>
            <a:ext cx="36576" cy="34747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493776" y="465429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What differs between responders and non-responders with the same mutation?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1828800"/>
            <a:ext cx="6400800" cy="6400800"/>
          </a:xfrm>
          <a:prstGeom prst="ellipse">
            <a:avLst/>
          </a:prstGeom>
          <a:solidFill>
            <a:srgbClr val="E8405A">
              <a:alpha val="4000"/>
            </a:srgbClr>
          </a:solidFill>
          <a:ln w="12700">
            <a:solidFill>
              <a:srgbClr val="E84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4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mutation. Real drug. Still limited durability. 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7665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Disappointing results.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3383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KEYNOTE-789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EGFR+ post-TKI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Pembro + chemo vs chemo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B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 PFS / OS benefit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CheckMate 722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EGFR+ post-TKI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Nivo + chemo vs chemo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B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 significant benefit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EGFR-mutant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Osimertinib + durvalumab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B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Arm halted — ILD toxicity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IMpower151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EGFR/ALK enriched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Atezo + bev + chemo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B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Negative PFS endpoint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CodeBreaK 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KRAS G12C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Sotorasib vs docetaxel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D9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 PFS improved; OS not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PEAT-Nucleate BioHack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-1371600"/>
            <a:ext cx="8229600" cy="8229600"/>
          </a:xfrm>
          <a:prstGeom prst="ellipse">
            <a:avLst/>
          </a:prstGeom>
          <a:solidFill>
            <a:srgbClr val="00B4A6">
              <a:alpha val="4000"/>
            </a:srgbClr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right target still fails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2651760" cy="2697480"/>
          </a:xfrm>
          <a:prstGeom prst="rect">
            <a:avLst/>
          </a:prstGeom>
          <a:solidFill>
            <a:srgbClr val="122B54"/>
          </a:solidFill>
          <a:ln w="25400">
            <a:solidFill>
              <a:srgbClr val="E84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2651760" cy="384048"/>
          </a:xfrm>
          <a:prstGeom prst="rect">
            <a:avLst/>
          </a:prstGeom>
          <a:solidFill>
            <a:srgbClr val="E84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" y="171907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Driver-addicted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04088" y="2139696"/>
            <a:ext cx="2011680" cy="22860"/>
          </a:xfrm>
          <a:prstGeom prst="rect">
            <a:avLst/>
          </a:prstGeom>
          <a:solidFill>
            <a:srgbClr val="E8405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2212848"/>
            <a:ext cx="2322576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tumor is truly dependent on the oncogenic driver; targeted therapy has the cleanest rationale. 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18688" y="1234440"/>
            <a:ext cx="2651760" cy="2697480"/>
          </a:xfrm>
          <a:prstGeom prst="rect">
            <a:avLst/>
          </a:prstGeom>
          <a:solidFill>
            <a:srgbClr val="122B54"/>
          </a:solidFill>
          <a:ln w="254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18688" y="1234440"/>
            <a:ext cx="2651760" cy="384048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2801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28416" y="171907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Plastic/Stress-Tolerant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538728" y="2139696"/>
            <a:ext cx="2011680" cy="22860"/>
          </a:xfrm>
          <a:prstGeom prst="rect">
            <a:avLst/>
          </a:prstGeom>
          <a:solidFill>
            <a:srgbClr val="00B4A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383280" y="2212848"/>
            <a:ext cx="2322576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EMT, hypoxia, lineage-shift, or drug-tolerant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persister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programs dominant survival. 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53328" y="1234440"/>
            <a:ext cx="2651760" cy="2697480"/>
          </a:xfrm>
          <a:prstGeom prst="rect">
            <a:avLst/>
          </a:prstGeom>
          <a:solidFill>
            <a:srgbClr val="122B54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053328" y="1234440"/>
            <a:ext cx="2651760" cy="3840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12801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63056" y="171907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Myeloid / Treg-rich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373368" y="2139696"/>
            <a:ext cx="2011680" cy="22860"/>
          </a:xfrm>
          <a:prstGeom prst="rect">
            <a:avLst/>
          </a:prstGeom>
          <a:solidFill>
            <a:srgbClr val="F5A62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217920" y="2212848"/>
            <a:ext cx="2322576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Suppressive niche — Treg + MDSC dominate. TKI resistance, IO non-responder.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65760" y="4114800"/>
            <a:ext cx="8412480" cy="694944"/>
          </a:xfrm>
          <a:prstGeom prst="rect">
            <a:avLst/>
          </a:prstGeom>
          <a:solidFill>
            <a:srgbClr val="071428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65760" y="4114800"/>
            <a:ext cx="45720" cy="694944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548640" y="4151376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 err="1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SpatialMTB</a:t>
            </a:r>
            <a:r>
              <a:rPr lang="en-US" sz="1500" b="1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Is the mutation the tumor’s dominant dependency – or just one feature inside a resistant tissue ecosystem? 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PEAT-Nucleate BioHack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114800"/>
            <a:ext cx="7315200" cy="7315200"/>
          </a:xfrm>
          <a:prstGeom prst="ellipse">
            <a:avLst/>
          </a:prstGeom>
          <a:solidFill>
            <a:srgbClr val="00B4A6">
              <a:alpha val="7000"/>
            </a:srgbClr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0" y="-1554480"/>
            <a:ext cx="4023360" cy="4023360"/>
          </a:xfrm>
          <a:prstGeom prst="ellipse">
            <a:avLst/>
          </a:prstGeom>
          <a:solidFill>
            <a:srgbClr val="00B4A6">
              <a:alpha val="10000"/>
            </a:srgbClr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6583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transcriptomics is the gold standard</a:t>
            </a:r>
            <a:endParaRPr lang="en-US" sz="2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but costs $$$ and rarely runs at large clinical scale.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2025–2026 papers changed this.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4048" y="2761488"/>
            <a:ext cx="2651760" cy="2103120"/>
          </a:xfrm>
          <a:prstGeom prst="rect">
            <a:avLst/>
          </a:prstGeom>
          <a:solidFill>
            <a:srgbClr val="122B54"/>
          </a:solidFill>
          <a:ln w="19050">
            <a:solidFill>
              <a:srgbClr val="00B4A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2761488"/>
            <a:ext cx="2651760" cy="54864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28346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≈ 0.66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" y="32918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2064" y="356616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Helmholtz / TUM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2064" y="3785616"/>
            <a:ext cx="24140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single-cell spatial transcriptomics from H&amp;E. 1.2B-param flow model on 22.2M cell pairs. TCGA atlas released.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18688" y="2761488"/>
            <a:ext cx="2651760" cy="2103120"/>
          </a:xfrm>
          <a:prstGeom prst="rect">
            <a:avLst/>
          </a:prstGeom>
          <a:solidFill>
            <a:srgbClr val="122B54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18688" y="2761488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46704" y="28346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46704" y="32918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GigaTIME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46704" y="356616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Providence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46704" y="3785616"/>
            <a:ext cx="24140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21-channel mIF from H&amp;E. Trained on 40M cells, precomputed on 10,200 TCGA patients. Open weights.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53328" y="2761488"/>
            <a:ext cx="2651760" cy="2103120"/>
          </a:xfrm>
          <a:prstGeom prst="rect">
            <a:avLst/>
          </a:prstGeom>
          <a:solidFill>
            <a:srgbClr val="122B54"/>
          </a:solidFill>
          <a:ln w="1905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53328" y="2761488"/>
            <a:ext cx="2651760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1344" y="28346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R@50=0.61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81344" y="32918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81344" y="356616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 / Enable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81344" y="3785616"/>
            <a:ext cx="24140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Co-embedding of H&amp;E + clinical text. Retrieves real matched mIF tissue from a reference cohort.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" y="486460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chained them — until now.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Two-Layer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2743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 slide in → ranked molecular hypotheses out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37744" y="1316736"/>
            <a:ext cx="1426464" cy="1234440"/>
          </a:xfrm>
          <a:prstGeom prst="rect">
            <a:avLst/>
          </a:prstGeom>
          <a:solidFill>
            <a:srgbClr val="64748B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1752" y="1426464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 Slide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($5 diagnostic)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09928" y="1908353"/>
            <a:ext cx="292608" cy="502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65960" y="1824228"/>
            <a:ext cx="82296" cy="21945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48256" y="1316736"/>
            <a:ext cx="1426464" cy="1234440"/>
          </a:xfrm>
          <a:prstGeom prst="rect">
            <a:avLst/>
          </a:prstGeom>
          <a:solidFill>
            <a:srgbClr val="0B1F3A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12264" y="1426464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HistoTME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TME signatures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screening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1908353"/>
            <a:ext cx="292608" cy="502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76472" y="1824228"/>
            <a:ext cx="82296" cy="21945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58768" y="1316736"/>
            <a:ext cx="1426464" cy="1234440"/>
          </a:xfrm>
          <a:prstGeom prst="rect">
            <a:avLst/>
          </a:prstGeom>
          <a:solidFill>
            <a:srgbClr val="F5A623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22776" y="1426464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high-interest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30952" y="1908353"/>
            <a:ext cx="292608" cy="502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86984" y="1824228"/>
            <a:ext cx="82296" cy="21945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9280" y="1316736"/>
            <a:ext cx="1426464" cy="1234440"/>
          </a:xfrm>
          <a:prstGeom prst="rect">
            <a:avLst/>
          </a:prstGeom>
          <a:solidFill>
            <a:srgbClr val="00B4A6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33288" y="1426464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Tumor Board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+ GigaTIME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Haiku retrieval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41464" y="1908353"/>
            <a:ext cx="292608" cy="502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97496" y="1824228"/>
            <a:ext cx="82296" cy="21945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79792" y="1316736"/>
            <a:ext cx="1426464" cy="1234440"/>
          </a:xfrm>
          <a:prstGeom prst="rect">
            <a:avLst/>
          </a:prstGeom>
          <a:solidFill>
            <a:srgbClr val="0B1F3A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43800" y="1426464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7744" y="2633472"/>
            <a:ext cx="5047488" cy="256032"/>
          </a:xfrm>
          <a:prstGeom prst="rect">
            <a:avLst/>
          </a:prstGeom>
          <a:solidFill>
            <a:srgbClr val="0B1F3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2608" y="265176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Population Screening  (HistoTME on 1,053 TCGA lungs)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0" y="2633472"/>
            <a:ext cx="3236976" cy="256032"/>
          </a:xfrm>
          <a:prstGeom prst="rect">
            <a:avLst/>
          </a:prstGeom>
          <a:solidFill>
            <a:srgbClr val="00B4A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24144" y="26517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Case Deepening  (Virtual Molecular Tumor Board Agent)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92608" y="3017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adds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2608" y="3410712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0352" y="3346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TME signatures per slide tile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" y="3739896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Mutation-stratified archetype clustering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2608" y="4069080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0352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desert vs inflamed at cohort scale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3017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adds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28032" y="3410712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65776" y="3346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spatial gene expression (Phoenix)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28032" y="3739896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65776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21-channel virtual protein maps (GigaTIME)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28032" y="4069080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65776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patient retrieval + KB cross-check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PEAT-Nucleate BioHack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HistoTME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2743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interpretable TME signatures — biology clinicians recognise, not a black-box score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127248" cy="2075688"/>
          </a:xfrm>
          <a:prstGeom prst="rect">
            <a:avLst/>
          </a:prstGeom>
          <a:solidFill>
            <a:srgbClr val="16A34A">
              <a:alpha val="9000"/>
            </a:srgbClr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3127248" cy="31089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Immune-active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Effector cells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74193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 cells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02082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NK cells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29971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M1 signatures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Antitumor cytokines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85750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MHCII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84448" y="1115568"/>
            <a:ext cx="2633472" cy="1796796"/>
          </a:xfrm>
          <a:prstGeom prst="rect">
            <a:avLst/>
          </a:prstGeom>
          <a:solidFill>
            <a:srgbClr val="E8405A">
              <a:alpha val="9000"/>
            </a:srgbClr>
          </a:solidFill>
          <a:ln w="19050">
            <a:solidFill>
              <a:srgbClr val="E84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84448" y="1115568"/>
            <a:ext cx="2633472" cy="310896"/>
          </a:xfrm>
          <a:prstGeom prst="rect">
            <a:avLst/>
          </a:prstGeom>
          <a:solidFill>
            <a:srgbClr val="E84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75888" y="1143000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Immunosuppressive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75888" y="14630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Treg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75888" y="174193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MDSC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75888" y="20208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Checkpoint inhib.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75888" y="22997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Th2 signature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75888" y="257860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Protumor cytokines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0" y="1115568"/>
            <a:ext cx="2468880" cy="1517904"/>
          </a:xfrm>
          <a:prstGeom prst="rect">
            <a:avLst/>
          </a:prstGeom>
          <a:solidFill>
            <a:srgbClr val="F5A623">
              <a:alpha val="9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9360" y="1115568"/>
            <a:ext cx="2468880" cy="31089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11430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Myeloid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Macrophages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17419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Macrophage DC traffic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0" y="2020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Neutrophil sig.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0" y="22997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Granulocyte traffic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907792"/>
            <a:ext cx="2542032" cy="1517904"/>
          </a:xfrm>
          <a:prstGeom prst="rect">
            <a:avLst/>
          </a:prstGeom>
          <a:solidFill>
            <a:srgbClr val="7C3AED">
              <a:alpha val="9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2907792"/>
            <a:ext cx="2542032" cy="3108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293522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Stroma / Escape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2552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53415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Angiogenesis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381304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Matrix remodeling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0919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EMT signature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99232" y="2907792"/>
            <a:ext cx="1691640" cy="681228"/>
          </a:xfrm>
          <a:prstGeom prst="rect">
            <a:avLst/>
          </a:prstGeom>
          <a:solidFill>
            <a:srgbClr val="64748B">
              <a:alpha val="9000"/>
            </a:srgbClr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999232" y="2907792"/>
            <a:ext cx="1691640" cy="31089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090672" y="2935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State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90672" y="32552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Proliferation rate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2907792"/>
            <a:ext cx="4005072" cy="1993392"/>
          </a:xfrm>
          <a:prstGeom prst="rect">
            <a:avLst/>
          </a:prstGeom>
          <a:solidFill>
            <a:srgbClr val="0B1F3A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73168" y="2907792"/>
            <a:ext cx="4005072" cy="36576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10328" y="2962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HistoTME works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846320" y="3337560"/>
            <a:ext cx="137160" cy="13716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47488" y="32826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foundation-model tile embeddings from H&amp;E WSI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616452"/>
            <a:ext cx="137160" cy="13716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47488" y="35615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Weakly supervised multi-task attention network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46320" y="3895344"/>
            <a:ext cx="137160" cy="13716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47488" y="3840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mode → slide-level TME profile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46320" y="4174236"/>
            <a:ext cx="137160" cy="13716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47488" y="41193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mode → per-tile signature heatmaps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4453128"/>
            <a:ext cx="137160" cy="13716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47488" y="43982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vs IHC (CD4/CD8/B cells/macrophages)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PEAT-Nucleate BioHack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71600"/>
            <a:ext cx="6400800" cy="6400800"/>
          </a:xfrm>
          <a:prstGeom prst="ellipse">
            <a:avLst/>
          </a:prstGeom>
          <a:solidFill>
            <a:srgbClr val="00B4A6">
              <a:alpha val="4000"/>
            </a:srgbClr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Virtual Molecular Tumor 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126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 slide + clinical note + traditional DNA mutation data  →  ranked, citation-backed molecular hypothesis report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097280"/>
            <a:ext cx="1920240" cy="987552"/>
          </a:xfrm>
          <a:prstGeom prst="rect">
            <a:avLst/>
          </a:prstGeom>
          <a:solidFill>
            <a:srgbClr val="122B54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1338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" y="131673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 Slide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Clinical Note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DNA Mutations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097280"/>
            <a:ext cx="1783080" cy="987552"/>
          </a:xfrm>
          <a:prstGeom prst="rect">
            <a:avLst/>
          </a:prstGeom>
          <a:solidFill>
            <a:srgbClr val="122B54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97480" y="1097280"/>
            <a:ext cx="1783080" cy="54864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88920" y="11704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46304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spatial Tx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types &amp; niches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783080" cy="987552"/>
          </a:xfrm>
          <a:prstGeom prst="rect">
            <a:avLst/>
          </a:prstGeom>
          <a:solidFill>
            <a:srgbClr val="122B54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78308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1704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GigaTIME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146304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21-channel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 protein maps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9400" y="1097280"/>
            <a:ext cx="1783080" cy="987552"/>
          </a:xfrm>
          <a:prstGeom prst="rect">
            <a:avLst/>
          </a:prstGeom>
          <a:solidFill>
            <a:srgbClr val="122B54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1097280"/>
            <a:ext cx="1783080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20840" y="11704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20840" y="146304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retrieval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mIF matched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85632" y="1097280"/>
            <a:ext cx="329184" cy="987552"/>
          </a:xfrm>
          <a:prstGeom prst="rect">
            <a:avLst/>
          </a:prstGeom>
          <a:solidFill>
            <a:srgbClr val="1A3A5C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03920" y="1435608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304288" y="1554480"/>
            <a:ext cx="393192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66176" y="1554480"/>
            <a:ext cx="219456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88720" y="2304288"/>
            <a:ext cx="6583680" cy="1170432"/>
          </a:xfrm>
          <a:prstGeom prst="rect">
            <a:avLst/>
          </a:prstGeom>
          <a:solidFill>
            <a:srgbClr val="071428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88720" y="2304288"/>
            <a:ext cx="45720" cy="117043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0" y="23591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 —  Orchestrator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371600" y="2651760"/>
            <a:ext cx="6309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cached TCGA artifacts → integrates spatial expression + protein channels + retrieved patients → queries Open Targets / GTEx eQTL / GWAS Catalog → synthesises ranked hypotheses with citations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74920" y="3447288"/>
            <a:ext cx="36576" cy="22860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91840" y="3675888"/>
            <a:ext cx="3657600" cy="914400"/>
          </a:xfrm>
          <a:prstGeom prst="rect">
            <a:avLst/>
          </a:prstGeom>
          <a:solidFill>
            <a:srgbClr val="122B54"/>
          </a:solidFill>
          <a:ln w="254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91840" y="3675888"/>
            <a:ext cx="3657600" cy="54864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2900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Molecular Tumor Board Report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29000" y="404164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hypotheses  ·  Gene/protein evidence  ·  Similar patient outcomes  ·  All cited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05472" y="3730752"/>
            <a:ext cx="1572768" cy="804672"/>
          </a:xfrm>
          <a:prstGeom prst="rect">
            <a:avLst/>
          </a:prstGeom>
          <a:solidFill>
            <a:srgbClr val="193A5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60336" y="3785616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runs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PEAT-Nucleate BioHack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 Lung Cohort — Ready to Run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2743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pre-assembled; no live model runs at demo time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1956816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1956816" cy="64008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21615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5488" y="1719072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H&amp;E slides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2121408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LUAD 541 + LUSC 512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05456" y="1115568"/>
            <a:ext cx="1956816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05456" y="1115568"/>
            <a:ext cx="1956816" cy="64008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96896" y="121615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~824 GB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96896" y="1719072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Slide Image data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96896" y="2121408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 committed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26864" y="1115568"/>
            <a:ext cx="1956816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1115568"/>
            <a:ext cx="1956816" cy="64008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18304" y="121615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18304" y="1719072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 patients with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mIF (GigaTIME)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18304" y="2121408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pre-released by authors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48272" y="1115568"/>
            <a:ext cx="1956816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48272" y="1115568"/>
            <a:ext cx="1956816" cy="64008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39712" y="121615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9,544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39712" y="1719072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TCGA atlas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(Phoenix)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39712" y="2121408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+ features released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4048" y="2633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4048" y="2999232"/>
            <a:ext cx="1609344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048" y="2999232"/>
            <a:ext cx="1609344" cy="420624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" y="302666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" y="3493008"/>
            <a:ext cx="14264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download.py → WSI .svs files from GDC manifest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21408" y="2999232"/>
            <a:ext cx="1609344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121408" y="2999232"/>
            <a:ext cx="1609344" cy="420624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12848" y="302666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633472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212848" y="3493008"/>
            <a:ext cx="14264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foundation model → HDF5 (coords + features)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58768" y="2999232"/>
            <a:ext cx="1609344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858768" y="2999232"/>
            <a:ext cx="1609344" cy="420624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50208" y="302666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70832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950208" y="3493008"/>
            <a:ext cx="14264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predict_bulk.py / predict_spatial.py → 29 TME sigs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96128" y="2999232"/>
            <a:ext cx="1609344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596128" y="2999232"/>
            <a:ext cx="1609344" cy="420624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687568" y="302666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108192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87568" y="3493008"/>
            <a:ext cx="14264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embeddings → FAISS index → patient lookup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33488" y="2999232"/>
            <a:ext cx="1609344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333488" y="2999232"/>
            <a:ext cx="1609344" cy="420624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24928" y="302666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845552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424928" y="3493008"/>
            <a:ext cx="14264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× TME archetype comparison + outcome link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PEAT-Nucleate BioHack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932688"/>
            <a:ext cx="34930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sit on two lossy generative models — framed as hypothesis-generating, never diagnostic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0632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7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82" y="1120140"/>
            <a:ext cx="384048" cy="38404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89888" y="1019556"/>
            <a:ext cx="37581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future trials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418492" y="1152144"/>
            <a:ext cx="50737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by TME archetype — not mutation alone — to identify responder subpopulations a priori</a:t>
            </a:r>
            <a:endParaRPr lang="en-US" sz="9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82" y="2089404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89888" y="1938528"/>
            <a:ext cx="37581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trial failures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1389888" y="2191512"/>
            <a:ext cx="62636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Post-hoc: why did mutation-positive EGFR/KRAS cohorts underperform? Map their TME states</a:t>
            </a:r>
            <a:endParaRPr lang="en-US" sz="9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792" y="3052806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8492" y="2898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existing biobanks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418492" y="3172968"/>
            <a:ext cx="602566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biopsy protocol needed — run on archived H&amp;E slides already in every hospital</a:t>
            </a:r>
            <a:endParaRPr lang="en-US" sz="9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82" y="4023360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8492" y="37764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deep biology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418492" y="4059936"/>
            <a:ext cx="73780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HistoTME screens → spatial transcriptomics validates on the interesting subset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is the lock.  TME is whether the key turns.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1097280"/>
            <a:ext cx="6949440" cy="6949440"/>
          </a:xfrm>
          <a:prstGeom prst="ellipse">
            <a:avLst/>
          </a:prstGeom>
          <a:solidFill>
            <a:srgbClr val="64748B">
              <a:alpha val="6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1945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84048" y="768096"/>
            <a:ext cx="960120" cy="310896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76809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HistoTME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444752" y="795528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Patkar et al. NPJ Precision Oncology 2024 — HistoTME for NSCLC / ICI response prediction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84048" y="1197864"/>
            <a:ext cx="960120" cy="310896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1978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HistoTMEv2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444752" y="1225296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Preprint 2025 — Pan-cancer extension of HistoTME (29 → extended signature set)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1627632"/>
            <a:ext cx="960120" cy="310896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" y="16276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44752" y="1655064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Helmholtz/TUM 2026 — Virtual single-cell spatial Tx from H&amp;E; 1.2B-param flow model; 9,544-patient TCGA atlas released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057400"/>
            <a:ext cx="960120" cy="310896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20574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GigaTIME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444752" y="2084832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Microsoft/Providence Cell 2025 — Virtual 21-channel mIF from H&amp;E; Spearman 0.88; precomputed on 10,200 TCGA patients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487168"/>
            <a:ext cx="960120" cy="310896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9768" y="24871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444752" y="2514600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Penn/Enable 2026 — Co-embedding H&amp;E + clinical text; H&amp;E-to-mIF Recall@50 0.611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2916936"/>
            <a:ext cx="960120" cy="310896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29169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KEYNOTE-789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444752" y="2944368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JCO 2024 — EGFR+ post-TKI; pembrolizumab + chemo vs chemo; no PFS/OS benefit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4048" y="3346704"/>
            <a:ext cx="960120" cy="310896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9768" y="33467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CodeBreaK 200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444752" y="3374136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Langen et al. Lancet 2023 — KRAS G12C; sotorasib vs docetaxel; PFS improved, OS not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4048" y="3776472"/>
            <a:ext cx="960120" cy="310896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" y="37764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444752" y="3803904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Tsai et al. JCI — KRAS G12Ci resistance mechanisms and TME remodeling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" y="4206240"/>
            <a:ext cx="960120" cy="310896"/>
          </a:xfrm>
          <a:prstGeom prst="rect">
            <a:avLst/>
          </a:prstGeom>
          <a:solidFill>
            <a:srgbClr val="122B54"/>
          </a:solidFill>
          <a:ln w="1016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9768" y="42062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444752" y="4233672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Rev Clin Oncol 2025 — NSCLC TME crosstalk and therapeutic implications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87375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github.com/aonkondey01/PEAT-Nucleate-BIoHack-2026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4389120"/>
            <a:ext cx="6949440" cy="6949440"/>
          </a:xfrm>
          <a:prstGeom prst="ellipse">
            <a:avLst/>
          </a:prstGeom>
          <a:solidFill>
            <a:srgbClr val="00B4A6">
              <a:alpha val="5000"/>
            </a:srgbClr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-1645920"/>
            <a:ext cx="3657600" cy="365760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 slides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 LUAD + LUSC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0604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signatures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606040" y="1993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HistoTME screening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 models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63440" y="1993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Phoenix, GigaTIME, Haiku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2084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720840" y="1993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Tumor Board Agent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8046720" cy="3657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0" y="3493008"/>
            <a:ext cx="9144000" cy="165049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007F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is the lock.  TME is whether the key turns.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PEAT-Nucleate BioHack 2026  •  github.com/aonkondey01/PEAT-Nucleate-BIoHack-2026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1278</Words>
  <Application>Microsoft Macintosh PowerPoint</Application>
  <PresentationFormat>On-screen Show (16:9)</PresentationFormat>
  <Paragraphs>245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PEAT-Nucleate BioHack 2026 — Virtual Molecular Tumor Board</dc:title>
  <dc:subject>PptxGenJS Presentation</dc:subject>
  <dc:creator>PptxGenJS</dc:creator>
  <cp:lastModifiedBy>Emma Finnegan</cp:lastModifiedBy>
  <cp:revision>5</cp:revision>
  <dcterms:created xsi:type="dcterms:W3CDTF">2026-06-06T16:17:07Z</dcterms:created>
  <dcterms:modified xsi:type="dcterms:W3CDTF">2026-06-06T16:49:27Z</dcterms:modified>
</cp:coreProperties>
</file>